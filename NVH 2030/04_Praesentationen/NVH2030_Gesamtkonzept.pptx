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8"/>
  </p:sldMasterIdLst>
  <p:notesMasterIdLst>
    <p:notesMasterId r:id="rId27"/>
  </p:notesMasterIdLst>
  <p:handoutMasterIdLst>
    <p:handoutMasterId r:id="rId28"/>
  </p:handoutMasterIdLst>
  <p:sldIdLst>
    <p:sldId id="266" r:id="rId9"/>
    <p:sldId id="257" r:id="rId10"/>
    <p:sldId id="267" r:id="rId11"/>
    <p:sldId id="268" r:id="rId12"/>
    <p:sldId id="269" r:id="rId13"/>
    <p:sldId id="270" r:id="rId14"/>
    <p:sldId id="271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75" r:id="rId23"/>
    <p:sldId id="274" r:id="rId24"/>
    <p:sldId id="265" r:id="rId25"/>
    <p:sldId id="272" r:id="rId26"/>
  </p:sldIdLst>
  <p:sldSz cx="12192000" cy="6858000"/>
  <p:notesSz cx="6797675" cy="9926638"/>
  <p:custDataLst>
    <p:custData r:id="rId1"/>
    <p:custData r:id="rId2"/>
    <p:custData r:id="rId3"/>
    <p:custData r:id="rId4"/>
    <p:custData r:id="rId5"/>
    <p:custData r:id="rId6"/>
    <p:custData r:id="rId7"/>
    <p:tags r:id="rId29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6A4283-E7A9-48D1-9E42-E5EF7686A667}" v="1" dt="2026-03-06T09:05:27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95" autoAdjust="0"/>
    <p:restoredTop sz="96723" autoAdjust="0"/>
  </p:normalViewPr>
  <p:slideViewPr>
    <p:cSldViewPr showGuides="1">
      <p:cViewPr varScale="1">
        <p:scale>
          <a:sx n="109" d="100"/>
          <a:sy n="109" d="100"/>
        </p:scale>
        <p:origin x="138" y="408"/>
      </p:cViewPr>
      <p:guideLst/>
    </p:cSldViewPr>
  </p:slideViewPr>
  <p:outlineViewPr>
    <p:cViewPr>
      <p:scale>
        <a:sx n="33" d="100"/>
        <a:sy n="33" d="100"/>
      </p:scale>
      <p:origin x="0" y="-441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291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microsoft.com/office/2016/11/relationships/changesInfo" Target="changesInfos/changesInfo1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Master" Target="slideMasters/slide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Glawion" userId="fd6bd209-b192-4111-ae82-272e80f0f9f7" providerId="ADAL" clId="{44C1D2DE-25E5-47FB-BB9A-8AE58F6B8438}"/>
    <pc:docChg chg="undo custSel delSld modSld sldOrd">
      <pc:chgData name="Jonas Glawion" userId="fd6bd209-b192-4111-ae82-272e80f0f9f7" providerId="ADAL" clId="{44C1D2DE-25E5-47FB-BB9A-8AE58F6B8438}" dt="2026-03-23T07:45:07.180" v="203" actId="20577"/>
      <pc:docMkLst>
        <pc:docMk/>
      </pc:docMkLst>
      <pc:sldChg chg="modSp mod">
        <pc:chgData name="Jonas Glawion" userId="fd6bd209-b192-4111-ae82-272e80f0f9f7" providerId="ADAL" clId="{44C1D2DE-25E5-47FB-BB9A-8AE58F6B8438}" dt="2026-03-23T07:45:07.180" v="203" actId="20577"/>
        <pc:sldMkLst>
          <pc:docMk/>
          <pc:sldMk cId="0" sldId="257"/>
        </pc:sldMkLst>
        <pc:spChg chg="mod">
          <ac:chgData name="Jonas Glawion" userId="fd6bd209-b192-4111-ae82-272e80f0f9f7" providerId="ADAL" clId="{44C1D2DE-25E5-47FB-BB9A-8AE58F6B8438}" dt="2026-03-23T07:45:07.180" v="203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Jonas Glawion" userId="fd6bd209-b192-4111-ae82-272e80f0f9f7" providerId="ADAL" clId="{44C1D2DE-25E5-47FB-BB9A-8AE58F6B8438}" dt="2026-03-06T09:06:01.553" v="24" actId="1076"/>
        <pc:sldMkLst>
          <pc:docMk/>
          <pc:sldMk cId="0" sldId="258"/>
        </pc:sldMkLst>
        <pc:spChg chg="mod">
          <ac:chgData name="Jonas Glawion" userId="fd6bd209-b192-4111-ae82-272e80f0f9f7" providerId="ADAL" clId="{44C1D2DE-25E5-47FB-BB9A-8AE58F6B8438}" dt="2026-03-06T09:06:01.553" v="24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06T09:05:58.319" v="23" actId="1076"/>
          <ac:spMkLst>
            <pc:docMk/>
            <pc:sldMk cId="0" sldId="258"/>
            <ac:spMk id="6" creationId="{00000000-0000-0000-0000-000000000000}"/>
          </ac:spMkLst>
        </pc:spChg>
        <pc:picChg chg="mod">
          <ac:chgData name="Jonas Glawion" userId="fd6bd209-b192-4111-ae82-272e80f0f9f7" providerId="ADAL" clId="{44C1D2DE-25E5-47FB-BB9A-8AE58F6B8438}" dt="2026-03-06T09:05:55.507" v="22" actId="1076"/>
          <ac:picMkLst>
            <pc:docMk/>
            <pc:sldMk cId="0" sldId="258"/>
            <ac:picMk id="5" creationId="{00000000-0000-0000-0000-000000000000}"/>
          </ac:picMkLst>
        </pc:picChg>
        <pc:picChg chg="mod">
          <ac:chgData name="Jonas Glawion" userId="fd6bd209-b192-4111-ae82-272e80f0f9f7" providerId="ADAL" clId="{44C1D2DE-25E5-47FB-BB9A-8AE58F6B8438}" dt="2026-03-06T09:05:53.570" v="21" actId="1076"/>
          <ac:picMkLst>
            <pc:docMk/>
            <pc:sldMk cId="0" sldId="258"/>
            <ac:picMk id="7" creationId="{00000000-0000-0000-0000-000000000000}"/>
          </ac:picMkLst>
        </pc:picChg>
      </pc:sldChg>
      <pc:sldChg chg="modSp mod">
        <pc:chgData name="Jonas Glawion" userId="fd6bd209-b192-4111-ae82-272e80f0f9f7" providerId="ADAL" clId="{44C1D2DE-25E5-47FB-BB9A-8AE58F6B8438}" dt="2026-03-06T09:06:43.763" v="32" actId="14100"/>
        <pc:sldMkLst>
          <pc:docMk/>
          <pc:sldMk cId="0" sldId="259"/>
        </pc:sldMkLst>
        <pc:spChg chg="mod">
          <ac:chgData name="Jonas Glawion" userId="fd6bd209-b192-4111-ae82-272e80f0f9f7" providerId="ADAL" clId="{44C1D2DE-25E5-47FB-BB9A-8AE58F6B8438}" dt="2026-03-06T09:06:19.730" v="26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06T09:06:30.752" v="30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06T09:06:43.763" v="32" actId="14100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Jonas Glawion" userId="fd6bd209-b192-4111-ae82-272e80f0f9f7" providerId="ADAL" clId="{44C1D2DE-25E5-47FB-BB9A-8AE58F6B8438}" dt="2026-03-06T09:07:40.425" v="41" actId="1076"/>
        <pc:sldMkLst>
          <pc:docMk/>
          <pc:sldMk cId="0" sldId="261"/>
        </pc:sldMkLst>
        <pc:spChg chg="mod">
          <ac:chgData name="Jonas Glawion" userId="fd6bd209-b192-4111-ae82-272e80f0f9f7" providerId="ADAL" clId="{44C1D2DE-25E5-47FB-BB9A-8AE58F6B8438}" dt="2026-03-06T09:07:15.189" v="35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06T09:07:30.886" v="39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06T09:07:35.490" v="40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06T09:07:40.425" v="41" actId="1076"/>
          <ac:spMkLst>
            <pc:docMk/>
            <pc:sldMk cId="0" sldId="261"/>
            <ac:spMk id="20" creationId="{00000000-0000-0000-0000-000000000000}"/>
          </ac:spMkLst>
        </pc:spChg>
      </pc:sldChg>
      <pc:sldChg chg="modSp mod">
        <pc:chgData name="Jonas Glawion" userId="fd6bd209-b192-4111-ae82-272e80f0f9f7" providerId="ADAL" clId="{44C1D2DE-25E5-47FB-BB9A-8AE58F6B8438}" dt="2026-03-06T09:08:58.659" v="53" actId="1076"/>
        <pc:sldMkLst>
          <pc:docMk/>
          <pc:sldMk cId="0" sldId="263"/>
        </pc:sldMkLst>
        <pc:spChg chg="mod">
          <ac:chgData name="Jonas Glawion" userId="fd6bd209-b192-4111-ae82-272e80f0f9f7" providerId="ADAL" clId="{44C1D2DE-25E5-47FB-BB9A-8AE58F6B8438}" dt="2026-03-06T09:08:22.342" v="47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06T09:08:41.889" v="51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06T09:08:48.729" v="52" actId="107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06T09:08:58.659" v="53" actId="1076"/>
          <ac:spMkLst>
            <pc:docMk/>
            <pc:sldMk cId="0" sldId="263"/>
            <ac:spMk id="28" creationId="{00000000-0000-0000-0000-000000000000}"/>
          </ac:spMkLst>
        </pc:spChg>
      </pc:sldChg>
      <pc:sldChg chg="ord">
        <pc:chgData name="Jonas Glawion" userId="fd6bd209-b192-4111-ae82-272e80f0f9f7" providerId="ADAL" clId="{44C1D2DE-25E5-47FB-BB9A-8AE58F6B8438}" dt="2026-03-16T10:43:31.628" v="199"/>
        <pc:sldMkLst>
          <pc:docMk/>
          <pc:sldMk cId="0" sldId="264"/>
        </pc:sldMkLst>
      </pc:sldChg>
      <pc:sldChg chg="modSp mod">
        <pc:chgData name="Jonas Glawion" userId="fd6bd209-b192-4111-ae82-272e80f0f9f7" providerId="ADAL" clId="{44C1D2DE-25E5-47FB-BB9A-8AE58F6B8438}" dt="2026-03-05T08:42:20.776" v="11" actId="20577"/>
        <pc:sldMkLst>
          <pc:docMk/>
          <pc:sldMk cId="0" sldId="265"/>
        </pc:sldMkLst>
        <pc:spChg chg="mod">
          <ac:chgData name="Jonas Glawion" userId="fd6bd209-b192-4111-ae82-272e80f0f9f7" providerId="ADAL" clId="{44C1D2DE-25E5-47FB-BB9A-8AE58F6B8438}" dt="2026-03-05T08:42:20.776" v="11" actId="20577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Jonas Glawion" userId="fd6bd209-b192-4111-ae82-272e80f0f9f7" providerId="ADAL" clId="{44C1D2DE-25E5-47FB-BB9A-8AE58F6B8438}" dt="2026-03-05T11:50:24.684" v="14" actId="1076"/>
        <pc:sldMkLst>
          <pc:docMk/>
          <pc:sldMk cId="0" sldId="268"/>
        </pc:sldMkLst>
        <pc:spChg chg="mod">
          <ac:chgData name="Jonas Glawion" userId="fd6bd209-b192-4111-ae82-272e80f0f9f7" providerId="ADAL" clId="{44C1D2DE-25E5-47FB-BB9A-8AE58F6B8438}" dt="2026-03-05T11:50:24.684" v="14" actId="1076"/>
          <ac:spMkLst>
            <pc:docMk/>
            <pc:sldMk cId="0" sldId="268"/>
            <ac:spMk id="12" creationId="{21A7E117-E63A-937A-5023-250E991F6697}"/>
          </ac:spMkLst>
        </pc:spChg>
        <pc:spChg chg="mod">
          <ac:chgData name="Jonas Glawion" userId="fd6bd209-b192-4111-ae82-272e80f0f9f7" providerId="ADAL" clId="{44C1D2DE-25E5-47FB-BB9A-8AE58F6B8438}" dt="2026-03-05T11:50:24.684" v="14" actId="1076"/>
          <ac:spMkLst>
            <pc:docMk/>
            <pc:sldMk cId="0" sldId="268"/>
            <ac:spMk id="20" creationId="{463E4F77-2428-164D-D03F-981844CAE4D7}"/>
          </ac:spMkLst>
        </pc:spChg>
        <pc:picChg chg="mod">
          <ac:chgData name="Jonas Glawion" userId="fd6bd209-b192-4111-ae82-272e80f0f9f7" providerId="ADAL" clId="{44C1D2DE-25E5-47FB-BB9A-8AE58F6B8438}" dt="2026-03-05T11:50:24.684" v="14" actId="1076"/>
          <ac:picMkLst>
            <pc:docMk/>
            <pc:sldMk cId="0" sldId="268"/>
            <ac:picMk id="8" creationId="{ED0E18DF-1719-1DF3-7CAF-CADB055FAC05}"/>
          </ac:picMkLst>
        </pc:picChg>
        <pc:picChg chg="mod">
          <ac:chgData name="Jonas Glawion" userId="fd6bd209-b192-4111-ae82-272e80f0f9f7" providerId="ADAL" clId="{44C1D2DE-25E5-47FB-BB9A-8AE58F6B8438}" dt="2026-03-05T11:50:24.684" v="14" actId="1076"/>
          <ac:picMkLst>
            <pc:docMk/>
            <pc:sldMk cId="0" sldId="268"/>
            <ac:picMk id="9" creationId="{00000000-0008-0000-0000-000006000000}"/>
          </ac:picMkLst>
        </pc:picChg>
        <pc:picChg chg="mod">
          <ac:chgData name="Jonas Glawion" userId="fd6bd209-b192-4111-ae82-272e80f0f9f7" providerId="ADAL" clId="{44C1D2DE-25E5-47FB-BB9A-8AE58F6B8438}" dt="2026-03-05T11:50:24.684" v="14" actId="1076"/>
          <ac:picMkLst>
            <pc:docMk/>
            <pc:sldMk cId="0" sldId="268"/>
            <ac:picMk id="10" creationId="{4F8A5081-5ACD-5045-4B06-E1B564F63F31}"/>
          </ac:picMkLst>
        </pc:picChg>
        <pc:picChg chg="mod">
          <ac:chgData name="Jonas Glawion" userId="fd6bd209-b192-4111-ae82-272e80f0f9f7" providerId="ADAL" clId="{44C1D2DE-25E5-47FB-BB9A-8AE58F6B8438}" dt="2026-03-05T11:50:24.684" v="14" actId="1076"/>
          <ac:picMkLst>
            <pc:docMk/>
            <pc:sldMk cId="0" sldId="268"/>
            <ac:picMk id="11" creationId="{92F055FF-789D-46F8-A713-5A8E27517EE4}"/>
          </ac:picMkLst>
        </pc:picChg>
        <pc:picChg chg="mod">
          <ac:chgData name="Jonas Glawion" userId="fd6bd209-b192-4111-ae82-272e80f0f9f7" providerId="ADAL" clId="{44C1D2DE-25E5-47FB-BB9A-8AE58F6B8438}" dt="2026-03-05T11:50:24.684" v="14" actId="1076"/>
          <ac:picMkLst>
            <pc:docMk/>
            <pc:sldMk cId="0" sldId="268"/>
            <ac:picMk id="13" creationId="{00000000-0008-0000-0000-000002000000}"/>
          </ac:picMkLst>
        </pc:picChg>
        <pc:picChg chg="mod">
          <ac:chgData name="Jonas Glawion" userId="fd6bd209-b192-4111-ae82-272e80f0f9f7" providerId="ADAL" clId="{44C1D2DE-25E5-47FB-BB9A-8AE58F6B8438}" dt="2026-03-05T11:50:24.684" v="14" actId="1076"/>
          <ac:picMkLst>
            <pc:docMk/>
            <pc:sldMk cId="0" sldId="268"/>
            <ac:picMk id="15" creationId="{4BF22247-4A65-E5FF-2FD2-E87DA6F59938}"/>
          </ac:picMkLst>
        </pc:picChg>
        <pc:picChg chg="mod">
          <ac:chgData name="Jonas Glawion" userId="fd6bd209-b192-4111-ae82-272e80f0f9f7" providerId="ADAL" clId="{44C1D2DE-25E5-47FB-BB9A-8AE58F6B8438}" dt="2026-03-05T11:50:24.684" v="14" actId="1076"/>
          <ac:picMkLst>
            <pc:docMk/>
            <pc:sldMk cId="0" sldId="268"/>
            <ac:picMk id="17" creationId="{56A1CDC1-AEDB-08A7-384E-39DA9F8D5850}"/>
          </ac:picMkLst>
        </pc:picChg>
        <pc:picChg chg="mod">
          <ac:chgData name="Jonas Glawion" userId="fd6bd209-b192-4111-ae82-272e80f0f9f7" providerId="ADAL" clId="{44C1D2DE-25E5-47FB-BB9A-8AE58F6B8438}" dt="2026-03-05T11:50:24.684" v="14" actId="1076"/>
          <ac:picMkLst>
            <pc:docMk/>
            <pc:sldMk cId="0" sldId="268"/>
            <ac:picMk id="18" creationId="{91781053-EA24-4A58-76FD-AEC766F7B561}"/>
          </ac:picMkLst>
        </pc:picChg>
      </pc:sldChg>
      <pc:sldChg chg="delSp">
        <pc:chgData name="Jonas Glawion" userId="fd6bd209-b192-4111-ae82-272e80f0f9f7" providerId="ADAL" clId="{44C1D2DE-25E5-47FB-BB9A-8AE58F6B8438}" dt="2026-03-06T09:05:27.998" v="15" actId="478"/>
        <pc:sldMkLst>
          <pc:docMk/>
          <pc:sldMk cId="0" sldId="269"/>
        </pc:sldMkLst>
      </pc:sldChg>
      <pc:sldChg chg="delSp modSp mod ord">
        <pc:chgData name="Jonas Glawion" userId="fd6bd209-b192-4111-ae82-272e80f0f9f7" providerId="ADAL" clId="{44C1D2DE-25E5-47FB-BB9A-8AE58F6B8438}" dt="2026-03-16T10:39:50.827" v="197" actId="20577"/>
        <pc:sldMkLst>
          <pc:docMk/>
          <pc:sldMk cId="0" sldId="274"/>
        </pc:sldMkLst>
        <pc:spChg chg="mod">
          <ac:chgData name="Jonas Glawion" userId="fd6bd209-b192-4111-ae82-272e80f0f9f7" providerId="ADAL" clId="{44C1D2DE-25E5-47FB-BB9A-8AE58F6B8438}" dt="2026-03-16T10:39:50.827" v="197" actId="20577"/>
          <ac:spMkLst>
            <pc:docMk/>
            <pc:sldMk cId="0" sldId="274"/>
            <ac:spMk id="2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16T10:32:42.566" v="190" actId="20577"/>
          <ac:spMkLst>
            <pc:docMk/>
            <pc:sldMk cId="0" sldId="274"/>
            <ac:spMk id="3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16T10:31:37.011" v="178" actId="20577"/>
          <ac:spMkLst>
            <pc:docMk/>
            <pc:sldMk cId="0" sldId="274"/>
            <ac:spMk id="6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16T10:30:55.326" v="151" actId="20577"/>
          <ac:spMkLst>
            <pc:docMk/>
            <pc:sldMk cId="0" sldId="274"/>
            <ac:spMk id="11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16T10:30:57.797" v="153" actId="20577"/>
          <ac:spMkLst>
            <pc:docMk/>
            <pc:sldMk cId="0" sldId="274"/>
            <ac:spMk id="14" creationId="{00000000-0000-0000-0000-000000000000}"/>
          </ac:spMkLst>
        </pc:spChg>
      </pc:sldChg>
      <pc:sldChg chg="modSp mod ord">
        <pc:chgData name="Jonas Glawion" userId="fd6bd209-b192-4111-ae82-272e80f0f9f7" providerId="ADAL" clId="{44C1D2DE-25E5-47FB-BB9A-8AE58F6B8438}" dt="2026-03-16T10:33:01.641" v="192"/>
        <pc:sldMkLst>
          <pc:docMk/>
          <pc:sldMk cId="0" sldId="275"/>
        </pc:sldMkLst>
        <pc:spChg chg="mod">
          <ac:chgData name="Jonas Glawion" userId="fd6bd209-b192-4111-ae82-272e80f0f9f7" providerId="ADAL" clId="{44C1D2DE-25E5-47FB-BB9A-8AE58F6B8438}" dt="2026-03-16T10:31:51.479" v="179" actId="14100"/>
          <ac:spMkLst>
            <pc:docMk/>
            <pc:sldMk cId="0" sldId="275"/>
            <ac:spMk id="13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16T10:30:22.807" v="130" actId="20577"/>
          <ac:spMkLst>
            <pc:docMk/>
            <pc:sldMk cId="0" sldId="275"/>
            <ac:spMk id="16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16T10:32:11.693" v="180" actId="14100"/>
          <ac:spMkLst>
            <pc:docMk/>
            <pc:sldMk cId="0" sldId="275"/>
            <ac:spMk id="17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16T10:30:14.848" v="119" actId="20577"/>
          <ac:spMkLst>
            <pc:docMk/>
            <pc:sldMk cId="0" sldId="275"/>
            <ac:spMk id="20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16T10:32:14.125" v="181" actId="14100"/>
          <ac:spMkLst>
            <pc:docMk/>
            <pc:sldMk cId="0" sldId="275"/>
            <ac:spMk id="21" creationId="{00000000-0000-0000-0000-000000000000}"/>
          </ac:spMkLst>
        </pc:spChg>
        <pc:spChg chg="mod">
          <ac:chgData name="Jonas Glawion" userId="fd6bd209-b192-4111-ae82-272e80f0f9f7" providerId="ADAL" clId="{44C1D2DE-25E5-47FB-BB9A-8AE58F6B8438}" dt="2026-03-16T10:30:35.850" v="149" actId="20577"/>
          <ac:spMkLst>
            <pc:docMk/>
            <pc:sldMk cId="0" sldId="275"/>
            <ac:spMk id="2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5">
            <a:extLst>
              <a:ext uri="{FF2B5EF4-FFF2-40B4-BE49-F238E27FC236}">
                <a16:creationId xmlns:a16="http://schemas.microsoft.com/office/drawing/2014/main" id="{1EFB64EB-4201-4217-9704-A4C86AB799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55689B8A-29DF-482E-94B6-9740F70E10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3E0DD24-FEA3-4BE9-B887-5215351E7D23}" type="datetimeFigureOut">
              <a:rPr lang="en-GB" altLang="x-none"/>
              <a:pPr/>
              <a:t>23/03/2026</a:t>
            </a:fld>
            <a:endParaRPr lang="en-GB" altLang="x-none"/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829A7B45-BF4C-4AE2-96C7-65A834E3ABE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35E06AF7-EEA8-4CE5-9185-5932ABF10F2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2EBD03D-56D0-4856-9847-C0A4CFA9836D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284830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14BD549B-341F-4705-81DD-FB2DC677929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9A28A8F-3F23-4631-B86F-19C0BDA472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4F43F84B-4B30-4B19-8426-990D8A29C2B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6387" y="4715153"/>
            <a:ext cx="4944902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x-none"/>
              <a:t>Click to edit Master text styles</a:t>
            </a:r>
          </a:p>
          <a:p>
            <a:pPr lvl="1"/>
            <a:r>
              <a:rPr lang="en-GB" altLang="x-none"/>
              <a:t>Second level</a:t>
            </a:r>
          </a:p>
          <a:p>
            <a:pPr lvl="2"/>
            <a:r>
              <a:rPr lang="en-GB" altLang="x-none"/>
              <a:t>Third level</a:t>
            </a:r>
          </a:p>
          <a:p>
            <a:pPr lvl="3"/>
            <a:r>
              <a:rPr lang="en-GB" altLang="x-none"/>
              <a:t>Fourth level</a:t>
            </a:r>
          </a:p>
          <a:p>
            <a:pPr lvl="4"/>
            <a:r>
              <a:rPr lang="en-GB" altLang="x-none"/>
              <a:t>Fifth level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8E756EB2-34C5-436A-ABD7-978D6A4DF99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60C18952-D8C4-48E5-9C2B-5D104BB674C5}" type="datetimeFigureOut">
              <a:rPr lang="en-GB" altLang="x-none"/>
              <a:pPr/>
              <a:t>23/03/2026</a:t>
            </a:fld>
            <a:endParaRPr lang="en-GB" altLang="x-none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DF02C9F1-16A4-4AC4-B43D-3766BECFCB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49E4C7CB-06D8-4759-8E00-777CD5624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0D4A133-3E39-4343-A036-3D58BF7031A0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8762095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>
                <a:solidFill>
                  <a:schemeClr val="accent2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title</a:t>
            </a:r>
          </a:p>
        </p:txBody>
      </p:sp>
      <p:grpSp>
        <p:nvGrpSpPr>
          <p:cNvPr id="16" name="Logo_Color">
            <a:extLst>
              <a:ext uri="{FF2B5EF4-FFF2-40B4-BE49-F238E27FC236}">
                <a16:creationId xmlns:a16="http://schemas.microsoft.com/office/drawing/2014/main" id="{E2885034-D7C7-40E1-A005-2EE9DA3304D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2F804-F601-4DBF-971F-8101295C2CB8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07D9C56-5B20-4F59-B94D-B9524116AF86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F7311F-3F3E-40F3-B393-7B09ABB83C44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DBA2570-1228-4E11-BD96-6DB545B8DC86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931A55-6E26-4697-B813-EAE5E6FE3BEB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80CF33C-B321-4E76-99C3-7DD91F132E4B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9AFCED-6628-40DE-82BD-F29590602CB2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953C0D-633C-46F8-8EC1-5FAE83E2FE0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grey">
    <p:bg bwMode="gray">
      <p:bgPr>
        <a:solidFill>
          <a:srgbClr val="858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>
                <a:solidFill>
                  <a:schemeClr val="bg1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title</a:t>
            </a:r>
          </a:p>
        </p:txBody>
      </p:sp>
      <p:grpSp>
        <p:nvGrpSpPr>
          <p:cNvPr id="18" name="Logo_White">
            <a:extLst>
              <a:ext uri="{FF2B5EF4-FFF2-40B4-BE49-F238E27FC236}">
                <a16:creationId xmlns:a16="http://schemas.microsoft.com/office/drawing/2014/main" id="{1629E9BA-9EE1-4730-9CEC-8A3F405AB748}"/>
              </a:ext>
            </a:extLst>
          </p:cNvPr>
          <p:cNvGrpSpPr>
            <a:grpSpLocks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19E9A6-C720-4EC4-9108-6E7673FEE78A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9EAAD32-BE75-434E-8075-6D798A9655B2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7C51CE-E191-4311-81E4-4AC000245543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0C18936-A705-474A-BF6B-DBEE3062A6C8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10EFF1-6ED5-4AD1-97C8-CA9966AD618E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401D571-90D8-47CA-89CB-633C8813A555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F9F8554-F5FE-4036-8BCE-D0B75EC5120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E7D93E-5E28-46F8-8635-0003518C4DCF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826961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2" name="Line">
            <a:extLst>
              <a:ext uri="{FF2B5EF4-FFF2-40B4-BE49-F238E27FC236}">
                <a16:creationId xmlns:a16="http://schemas.microsoft.com/office/drawing/2014/main" id="{C398A82B-E12A-4095-B923-AAB9904866B0}"/>
              </a:ext>
            </a:extLst>
          </p:cNvPr>
          <p:cNvSpPr/>
          <p:nvPr userDrawn="1"/>
        </p:nvSpPr>
        <p:spPr bwMode="gray">
          <a:xfrm>
            <a:off x="281552" y="3104827"/>
            <a:ext cx="1080000" cy="36000"/>
          </a:xfrm>
          <a:prstGeom prst="rect">
            <a:avLst/>
          </a:prstGeom>
          <a:solidFill>
            <a:srgbClr val="B8C4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DF4F135-2A7E-416E-8DB7-47799050FED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81552" y="1513668"/>
            <a:ext cx="4702404" cy="1591159"/>
          </a:xfrm>
          <a:solidFill>
            <a:srgbClr val="F5F5F5">
              <a:alpha val="69804"/>
            </a:srgbClr>
          </a:solidFill>
          <a:effectLst/>
        </p:spPr>
        <p:txBody>
          <a:bodyPr lIns="216000" tIns="216000" rIns="216000" bIns="216000"/>
          <a:lstStyle>
            <a:lvl1pPr>
              <a:lnSpc>
                <a:spcPts val="4600"/>
              </a:lnSpc>
              <a:defRPr sz="4200"/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733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>
            <a:noAutofit/>
          </a:bodyPr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EAB64A-5D5C-47EF-9B9B-5812172F5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85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pic>
        <p:nvPicPr>
          <p:cNvPr id="11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grpSp>
        <p:nvGrpSpPr>
          <p:cNvPr id="21" name="Logo_Color">
            <a:extLst>
              <a:ext uri="{FF2B5EF4-FFF2-40B4-BE49-F238E27FC236}">
                <a16:creationId xmlns:a16="http://schemas.microsoft.com/office/drawing/2014/main" id="{F6258D7C-28BE-4EF6-A1E4-2FC99401BF8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C1184F0-9355-4401-AA31-8D8321459214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9AC917-5B82-4FA9-AF1E-EA81AF15028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61459D-7D66-4344-A676-876A7C95980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A37EFD-68D6-4E98-BB02-5D2C19228A91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6C6ADE1-4688-4BCD-AA97-76E1BC5C8C96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787DF86-2D0C-4B51-A1C2-FBF72580BDA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BE20E30-6C75-45EC-9E43-70C5A82FAEF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89A284-F5B5-4578-A3F2-60F334FC43F9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30026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7891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/>
          </p:cNvSpPr>
          <p:nvPr userDrawn="1"/>
        </p:nvSpPr>
        <p:spPr>
          <a:xfrm>
            <a:off x="6165464" y="1773238"/>
            <a:ext cx="6026535" cy="508238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0" y="1773238"/>
            <a:ext cx="6058533" cy="5083829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pic>
        <p:nvPicPr>
          <p:cNvPr id="13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" name="Logo_Color">
            <a:extLst>
              <a:ext uri="{FF2B5EF4-FFF2-40B4-BE49-F238E27FC236}">
                <a16:creationId xmlns:a16="http://schemas.microsoft.com/office/drawing/2014/main" id="{DA768CE5-B78C-4A88-B9B8-6CA91B420A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3F7E226-2A85-42D5-97AC-D9160BAD9A05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FEDD7-F30B-465C-ABDF-BAA9083AC1F4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5DA252-AAFB-463A-A823-677056BF20D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017427-B599-4173-AB18-A1F0F6BD93EF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FB94805-6C4B-46DC-BD3B-1FA9955915B2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400460-AE87-4536-AFA4-019E93EB9841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371F196-4220-4E1B-B6AD-CA533ED56856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F6699F1-E995-4C2A-B778-B07D9D91CAD0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339691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C58DF4-62CC-4AEF-9244-9A919D2ED7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845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/>
          </a:p>
        </p:txBody>
      </p:sp>
      <p:pic>
        <p:nvPicPr>
          <p:cNvPr id="9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Logo_Color">
            <a:extLst>
              <a:ext uri="{FF2B5EF4-FFF2-40B4-BE49-F238E27FC236}">
                <a16:creationId xmlns:a16="http://schemas.microsoft.com/office/drawing/2014/main" id="{CFD01046-A088-495F-9739-E5E26FD46FC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DF1C70-FE52-405C-9BC2-79BF49CAF1B0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410B21-E578-4970-8241-9B63EE0AEB9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678DD-6EC7-46B7-8620-A5035D8F4A5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F671508-D246-47A5-9FE4-41719225F78B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1E570CD-CB25-4199-B12B-7E0EAF025115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0683589-CBE0-4248-A75D-F24189E93922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8CCF97-3CC5-4999-810D-63361F627BCE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5B8268-BC28-4317-935D-8BFF0100DB26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57AF3C3E-F5D0-4333-9C42-8BF925430F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9707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C5207CEA-FF8D-4B89-898C-8346443AF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891165-E20D-47F4-8E61-E6497C71033B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6E1A0383-17F4-4AAB-8EBA-23557D8A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x-none" noProof="0"/>
          </a:p>
        </p:txBody>
      </p:sp>
      <p:sp>
        <p:nvSpPr>
          <p:cNvPr id="4" name="Hider">
            <a:extLst>
              <a:ext uri="{FF2B5EF4-FFF2-40B4-BE49-F238E27FC236}">
                <a16:creationId xmlns:a16="http://schemas.microsoft.com/office/drawing/2014/main" id="{DB65CE08-3606-4BFD-9BD1-40E62CEACB4A}"/>
              </a:ext>
            </a:extLst>
          </p:cNvPr>
          <p:cNvSpPr/>
          <p:nvPr userDrawn="1"/>
        </p:nvSpPr>
        <p:spPr bwMode="gray">
          <a:xfrm>
            <a:off x="421217" y="1268760"/>
            <a:ext cx="778239" cy="2160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28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osing Slide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gline">
            <a:extLst>
              <a:ext uri="{FF2B5EF4-FFF2-40B4-BE49-F238E27FC236}">
                <a16:creationId xmlns:a16="http://schemas.microsoft.com/office/drawing/2014/main" id="{B6CAF06C-30B8-4168-9054-ED186189C5D5}"/>
              </a:ext>
            </a:extLst>
          </p:cNvPr>
          <p:cNvSpPr txBox="1"/>
          <p:nvPr userDrawn="1"/>
        </p:nvSpPr>
        <p:spPr bwMode="gray">
          <a:xfrm>
            <a:off x="412724" y="620688"/>
            <a:ext cx="47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1">
                <a:solidFill>
                  <a:schemeClr val="bg1"/>
                </a:solidFill>
              </a:rPr>
              <a:t>Autoneum. Mastering sound and heat.</a:t>
            </a:r>
          </a:p>
        </p:txBody>
      </p:sp>
      <p:pic>
        <p:nvPicPr>
          <p:cNvPr id="5" name="Grid">
            <a:extLst>
              <a:ext uri="{FF2B5EF4-FFF2-40B4-BE49-F238E27FC236}">
                <a16:creationId xmlns:a16="http://schemas.microsoft.com/office/drawing/2014/main" id="{589B075C-EE3D-4D18-B3B8-1F7BADB3C14C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4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99EBE82E-1D58-4F27-BFD1-1BD2933D4BB6}"/>
              </a:ext>
            </a:extLst>
          </p:cNvPr>
          <p:cNvPicPr>
            <a:picLocks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9307" name="Footer">
            <a:extLst>
              <a:ext uri="{FF2B5EF4-FFF2-40B4-BE49-F238E27FC236}">
                <a16:creationId xmlns:a16="http://schemas.microsoft.com/office/drawing/2014/main" id="{4EDAAAD2-B0D3-4D21-A49E-A5B952EF06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03238" y="6527802"/>
            <a:ext cx="7593125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>
                <a:solidFill>
                  <a:schemeClr val="tx1"/>
                </a:solidFill>
              </a:defRPr>
            </a:lvl1pPr>
          </a:lstStyle>
          <a:p>
            <a:endParaRPr lang="en-US" altLang="x-none" noProof="0" dirty="0"/>
          </a:p>
        </p:txBody>
      </p:sp>
      <p:sp>
        <p:nvSpPr>
          <p:cNvPr id="9306" name="SlideNumber">
            <a:extLst>
              <a:ext uri="{FF2B5EF4-FFF2-40B4-BE49-F238E27FC236}">
                <a16:creationId xmlns:a16="http://schemas.microsoft.com/office/drawing/2014/main" id="{F13D8AD8-70E1-419F-8D68-12FB76F6D9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0346" y="6527802"/>
            <a:ext cx="3600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18000" bIns="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000" b="1">
                <a:solidFill>
                  <a:schemeClr val="accent2"/>
                </a:solidFill>
              </a:defRPr>
            </a:lvl1pPr>
          </a:lstStyle>
          <a:p>
            <a:fld id="{C5DFE346-E938-48F6-815E-A6F5FFA5F3E6}" type="slidenum">
              <a:rPr lang="en-US" altLang="x-none" noProof="0" smtClean="0"/>
              <a:pPr/>
              <a:t>‹#›</a:t>
            </a:fld>
            <a:endParaRPr lang="en-US" altLang="x-none" noProof="0"/>
          </a:p>
        </p:txBody>
      </p:sp>
      <p:sp>
        <p:nvSpPr>
          <p:cNvPr id="9312" name="Body">
            <a:extLst>
              <a:ext uri="{FF2B5EF4-FFF2-40B4-BE49-F238E27FC236}">
                <a16:creationId xmlns:a16="http://schemas.microsoft.com/office/drawing/2014/main" id="{F7165C6F-9B26-4E2D-AC7A-2D940B17C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7" y="1773238"/>
            <a:ext cx="11200363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 noProof="0" dirty="0"/>
              <a:t>Edit Master text styles</a:t>
            </a:r>
          </a:p>
          <a:p>
            <a:pPr lvl="1"/>
            <a:r>
              <a:rPr lang="en-US" altLang="x-none" noProof="0" dirty="0"/>
              <a:t>Second level</a:t>
            </a:r>
          </a:p>
          <a:p>
            <a:pPr lvl="2"/>
            <a:r>
              <a:rPr lang="en-US" altLang="x-none" noProof="0" dirty="0"/>
              <a:t>Third level</a:t>
            </a:r>
          </a:p>
          <a:p>
            <a:pPr lvl="3"/>
            <a:r>
              <a:rPr lang="en-US" altLang="x-none" noProof="0" dirty="0"/>
              <a:t>Fourth level</a:t>
            </a:r>
          </a:p>
          <a:p>
            <a:pPr lvl="4"/>
            <a:r>
              <a:rPr lang="en-US" altLang="x-none" noProof="0" dirty="0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2" name="Title">
            <a:extLst>
              <a:ext uri="{FF2B5EF4-FFF2-40B4-BE49-F238E27FC236}">
                <a16:creationId xmlns:a16="http://schemas.microsoft.com/office/drawing/2014/main" id="{E987F5B0-FE52-4F22-839D-B3C6F8E72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503239" y="820809"/>
            <a:ext cx="9143546" cy="371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x-none" noProof="0" dirty="0"/>
              <a:t>Click to add subtitle</a:t>
            </a:r>
          </a:p>
        </p:txBody>
      </p:sp>
      <p:grpSp>
        <p:nvGrpSpPr>
          <p:cNvPr id="17" name="Logo_Color">
            <a:extLst>
              <a:ext uri="{FF2B5EF4-FFF2-40B4-BE49-F238E27FC236}">
                <a16:creationId xmlns:a16="http://schemas.microsoft.com/office/drawing/2014/main" id="{23BF32FD-6C10-4B29-8766-1A5E4C5B18B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856E29-C8C5-4138-B594-E21356DBF02E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2A14EA8-0EE5-4787-B944-1DE5F9BDCB11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B82ACA-1D78-45A4-9436-C965AE26415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CC6A97D-D953-45CC-A9D2-6881AAD1DFD0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BBC2DD6-2378-4348-8ED5-BABF9444F27D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09D04E1-70A3-4CAF-BF8C-7F0CEF66E0E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DD0E09-05B7-4198-9583-A2C025E19DBC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C1ADB3-F733-4458-A38D-0C262380648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40" r:id="rId2"/>
    <p:sldLayoutId id="2147483736" r:id="rId3"/>
    <p:sldLayoutId id="2147483729" r:id="rId4"/>
    <p:sldLayoutId id="2147483737" r:id="rId5"/>
    <p:sldLayoutId id="2147483731" r:id="rId6"/>
    <p:sldLayoutId id="2147483738" r:id="rId7"/>
    <p:sldLayoutId id="2147483733" r:id="rId8"/>
    <p:sldLayoutId id="2147483739" r:id="rId9"/>
    <p:sldLayoutId id="2147483734" r:id="rId10"/>
    <p:sldLayoutId id="2147483735" r:id="rId11"/>
  </p:sldLayoutIdLst>
  <p:hf hdr="0" ftr="0" dt="0"/>
  <p:txStyles>
    <p:titleStyle>
      <a:lvl1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9pPr>
    </p:titleStyle>
    <p:bodyStyle>
      <a:lvl1pPr algn="l" rtl="0" eaLnBrk="1" fontAlgn="base" hangingPunct="1">
        <a:spcBef>
          <a:spcPts val="1200"/>
        </a:spcBef>
        <a:spcAft>
          <a:spcPts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79388" algn="l" rtl="0" eaLnBrk="1" fontAlgn="base" hangingPunct="1">
        <a:spcBef>
          <a:spcPts val="6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7" userDrawn="1">
          <p15:clr>
            <a:srgbClr val="F26B43"/>
          </p15:clr>
        </p15:guide>
        <p15:guide id="2" orient="horz" pos="4020" userDrawn="1">
          <p15:clr>
            <a:srgbClr val="F26B43"/>
          </p15:clr>
        </p15:guide>
        <p15:guide id="3" pos="317" userDrawn="1">
          <p15:clr>
            <a:srgbClr val="F26B43"/>
          </p15:clr>
        </p15:guide>
        <p15:guide id="4" pos="737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Kurzfristige Optimierung &amp; Langfristige Transformation  |  Werk Gundernhausen  |  März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NVH 2030 — Gesamtkonzept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rPr dirty="0"/>
              <a:t>NVH-</a:t>
            </a:r>
            <a:r>
              <a:rPr dirty="0" err="1"/>
              <a:t>Geschäft</a:t>
            </a:r>
            <a:r>
              <a:rPr dirty="0"/>
              <a:t> </a:t>
            </a:r>
            <a:r>
              <a:rPr dirty="0" err="1"/>
              <a:t>schrumpft</a:t>
            </a:r>
            <a:r>
              <a:rPr dirty="0"/>
              <a:t> — </a:t>
            </a:r>
            <a:r>
              <a:rPr dirty="0" err="1"/>
              <a:t>Maschinenauslastung</a:t>
            </a:r>
            <a:r>
              <a:rPr dirty="0"/>
              <a:t> </a:t>
            </a:r>
            <a:r>
              <a:rPr dirty="0" err="1"/>
              <a:t>sinkt</a:t>
            </a:r>
            <a:r>
              <a:rPr dirty="0"/>
              <a:t> </a:t>
            </a:r>
            <a:r>
              <a:rPr dirty="0" err="1"/>
              <a:t>kontinuierlich</a:t>
            </a:r>
            <a:endParaRPr dirty="0"/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rPr dirty="0"/>
              <a:t>Produktion </a:t>
            </a:r>
            <a:r>
              <a:rPr dirty="0" err="1"/>
              <a:t>aktuell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2 Hallen </a:t>
            </a:r>
            <a:r>
              <a:rPr dirty="0" err="1"/>
              <a:t>verteilt</a:t>
            </a:r>
            <a:r>
              <a:rPr dirty="0"/>
              <a:t> (Halle 2 + Halle 3)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rPr dirty="0" err="1"/>
              <a:t>Ineffiziente</a:t>
            </a:r>
            <a:r>
              <a:rPr dirty="0"/>
              <a:t> </a:t>
            </a:r>
            <a:r>
              <a:rPr dirty="0" err="1"/>
              <a:t>Transportwege</a:t>
            </a:r>
            <a:r>
              <a:rPr dirty="0"/>
              <a:t> und </a:t>
            </a:r>
            <a:r>
              <a:rPr dirty="0" err="1"/>
              <a:t>Zwischenlagerung</a:t>
            </a:r>
            <a:r>
              <a:rPr dirty="0"/>
              <a:t> von </a:t>
            </a:r>
            <a:r>
              <a:rPr dirty="0" err="1"/>
              <a:t>Halbteilen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Hallen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rPr dirty="0" err="1"/>
              <a:t>Steigende</a:t>
            </a:r>
            <a:r>
              <a:rPr dirty="0"/>
              <a:t> </a:t>
            </a:r>
            <a:r>
              <a:rPr dirty="0" err="1"/>
              <a:t>Energiekosten</a:t>
            </a:r>
            <a:r>
              <a:rPr dirty="0"/>
              <a:t> für </a:t>
            </a:r>
            <a:r>
              <a:rPr dirty="0" err="1"/>
              <a:t>Formträgerheizung</a:t>
            </a:r>
            <a:r>
              <a:rPr dirty="0"/>
              <a:t> in 2 </a:t>
            </a:r>
            <a:r>
              <a:rPr dirty="0" err="1"/>
              <a:t>getrennten</a:t>
            </a:r>
            <a:r>
              <a:rPr dirty="0"/>
              <a:t> Hallen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rPr dirty="0"/>
              <a:t>Halle 3 </a:t>
            </a:r>
            <a:r>
              <a:rPr dirty="0" err="1"/>
              <a:t>bindet</a:t>
            </a:r>
            <a:r>
              <a:rPr dirty="0"/>
              <a:t> </a:t>
            </a:r>
            <a:r>
              <a:rPr dirty="0" err="1"/>
              <a:t>wertvolle</a:t>
            </a:r>
            <a:r>
              <a:rPr dirty="0"/>
              <a:t> </a:t>
            </a:r>
            <a:r>
              <a:rPr dirty="0" err="1"/>
              <a:t>Fläche</a:t>
            </a:r>
            <a:r>
              <a:rPr dirty="0"/>
              <a:t>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strategischen</a:t>
            </a:r>
            <a:r>
              <a:rPr dirty="0"/>
              <a:t> </a:t>
            </a:r>
            <a:r>
              <a:rPr dirty="0" err="1"/>
              <a:t>Nutzen</a:t>
            </a:r>
            <a:endParaRPr dirty="0"/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rPr dirty="0" err="1"/>
              <a:t>Eckdaten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rPr dirty="0"/>
              <a:t>   </a:t>
            </a:r>
            <a:r>
              <a:rPr dirty="0" err="1"/>
              <a:t>Jahresvolumen</a:t>
            </a:r>
            <a:r>
              <a:rPr dirty="0"/>
              <a:t>: </a:t>
            </a:r>
            <a:r>
              <a:rPr lang="de-DE" dirty="0"/>
              <a:t>PUR </a:t>
            </a:r>
            <a:r>
              <a:rPr dirty="0"/>
              <a:t>500–1.000 t   |   Mitarbeiter: &lt; 30   |   5 Maschinen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entfernen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Ausgangslage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Warum muss sich das Layout ändern?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 b="1"/>
            </a:pPr>
            <a:r>
              <a:t>STUFE 2 — MITTEL-/LANGFRISTIG</a:t>
            </a:r>
          </a:p>
          <a:p>
            <a:pPr>
              <a:spcAft>
                <a:spcPts val="400"/>
              </a:spcAft>
              <a:defRPr sz="1300"/>
            </a:pPr>
            <a:r>
              <a:t>NVH 2030: Konsolidierung in Halle 2</a:t>
            </a:r>
          </a:p>
          <a:p>
            <a:pPr>
              <a:spcAft>
                <a:spcPts val="400"/>
              </a:spcAft>
              <a:defRPr sz="1300"/>
            </a:pPr>
            <a:r>
              <a:t>Umsetzung Q1 2026 – Q1 2027</a:t>
            </a:r>
          </a:p>
          <a:p>
            <a:pPr>
              <a:spcAft>
                <a:spcPts val="400"/>
              </a:spcAft>
              <a:defRPr sz="1300"/>
            </a:pPr>
            <a:r>
              <a:t>Investition 262–460k €</a:t>
            </a:r>
          </a:p>
          <a:p>
            <a:pPr>
              <a:spcAft>
                <a:spcPts val="400"/>
              </a:spcAft>
              <a:defRPr sz="1300"/>
            </a:pPr>
            <a:r>
              <a:t>Halle 3 komplett frei für Zukunft</a:t>
            </a:r>
          </a:p>
          <a:p>
            <a:pPr>
              <a:spcAft>
                <a:spcPts val="400"/>
              </a:spcAft>
              <a:defRPr sz="1300"/>
            </a:pPr>
            <a:r>
              <a:t>Energie- &amp; Personalkostensenkung</a:t>
            </a:r>
          </a:p>
          <a:p>
            <a:pPr>
              <a:spcAft>
                <a:spcPts val="400"/>
              </a:spcAft>
              <a:defRPr sz="1300"/>
            </a:pPr>
            <a:endParaRPr/>
          </a:p>
          <a:p>
            <a:pPr>
              <a:spcAft>
                <a:spcPts val="400"/>
              </a:spcAft>
              <a:defRPr sz="1300"/>
            </a:pPr>
            <a:r>
              <a:t>→  Macht Gundernhausen zukunftssicher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 b="1"/>
            </a:pPr>
            <a:r>
              <a:t>STUFE 1 — KURZFRISTIG</a:t>
            </a:r>
          </a:p>
          <a:p>
            <a:pPr>
              <a:spcAft>
                <a:spcPts val="400"/>
              </a:spcAft>
              <a:defRPr sz="1300"/>
            </a:pPr>
            <a:r>
              <a:t>WZ-Umverteilung C-Linie + F-Linie</a:t>
            </a:r>
          </a:p>
          <a:p>
            <a:pPr>
              <a:spcAft>
                <a:spcPts val="400"/>
              </a:spcAft>
              <a:defRPr sz="1300"/>
            </a:pPr>
            <a:r>
              <a:t>Umsetzung ab Mai 2026</a:t>
            </a:r>
          </a:p>
          <a:p>
            <a:pPr>
              <a:spcAft>
                <a:spcPts val="400"/>
              </a:spcAft>
              <a:defRPr sz="1300"/>
            </a:pPr>
            <a:r>
              <a:t>Keine Investition erforderlich</a:t>
            </a:r>
          </a:p>
          <a:p>
            <a:pPr>
              <a:spcAft>
                <a:spcPts val="400"/>
              </a:spcAft>
              <a:defRPr sz="1300"/>
            </a:pPr>
            <a:r>
              <a:t>Optimierte Werkzeugzuordnung</a:t>
            </a:r>
          </a:p>
          <a:p>
            <a:pPr>
              <a:spcAft>
                <a:spcPts val="400"/>
              </a:spcAft>
              <a:defRPr sz="1300"/>
            </a:pPr>
            <a:r>
              <a:t>Sofort wirksam — entlastet C-Linie</a:t>
            </a:r>
          </a:p>
          <a:p>
            <a:pPr>
              <a:spcAft>
                <a:spcPts val="400"/>
              </a:spcAft>
              <a:defRPr sz="1300"/>
            </a:pPr>
            <a:endParaRPr/>
          </a:p>
          <a:p>
            <a:pPr>
              <a:spcAft>
                <a:spcPts val="400"/>
              </a:spcAft>
              <a:defRPr sz="1300"/>
            </a:pPr>
            <a:r>
              <a:t>→  Löst das akute Kapazitätsproblem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Zwei-Stufen-Ansatz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r>
              <a:t>Lösungsstrategie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Aufteilung WZ – Formträger Januar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r>
              <a:t>Ist-Stand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D0E18DF-1719-1DF3-7CAF-CADB055FA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1261373"/>
            <a:ext cx="9325638" cy="501181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0000000-0008-0000-0000-000006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471" y="3975464"/>
            <a:ext cx="936104" cy="701589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F8A5081-5ACD-5045-4B06-E1B564F63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742" y="3975464"/>
            <a:ext cx="936104" cy="701589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2F055FF-789D-46F8-A713-5A8E27517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244" y="2851341"/>
            <a:ext cx="936104" cy="762202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2" name="Pfeil: nach oben und unten 11">
            <a:extLst>
              <a:ext uri="{FF2B5EF4-FFF2-40B4-BE49-F238E27FC236}">
                <a16:creationId xmlns:a16="http://schemas.microsoft.com/office/drawing/2014/main" id="{21A7E117-E63A-937A-5023-250E991F6697}"/>
              </a:ext>
            </a:extLst>
          </p:cNvPr>
          <p:cNvSpPr/>
          <p:nvPr/>
        </p:nvSpPr>
        <p:spPr bwMode="auto">
          <a:xfrm>
            <a:off x="1415480" y="4141903"/>
            <a:ext cx="288032" cy="576065"/>
          </a:xfrm>
          <a:prstGeom prst="upDown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523" b="98139" l="552" r="9911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29472" y="3995525"/>
            <a:ext cx="975738" cy="67067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BF22247-4A65-E5FF-2FD2-E87DA6F59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471" y="2892971"/>
            <a:ext cx="1065707" cy="738477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6A1CDC1-AEDB-08A7-384E-39DA9F8D58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015" y="2364571"/>
            <a:ext cx="1065707" cy="701590"/>
          </a:xfrm>
          <a:prstGeom prst="rect">
            <a:avLst/>
          </a:prstGeom>
          <a:ln w="25400">
            <a:solidFill>
              <a:schemeClr val="accent4"/>
            </a:solidFill>
          </a:ln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91781053-EA24-4A58-76FD-AEC766F7B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738" y="3206337"/>
            <a:ext cx="936104" cy="762202"/>
          </a:xfrm>
          <a:prstGeom prst="rect">
            <a:avLst/>
          </a:prstGeom>
          <a:ln w="25400">
            <a:solidFill>
              <a:schemeClr val="accent4"/>
            </a:solidFill>
          </a:ln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0000000-0008-0000-0000-0000140000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7444" y="3035009"/>
            <a:ext cx="999924" cy="49010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463E4F77-2428-164D-D03F-981844CAE4D7}"/>
              </a:ext>
            </a:extLst>
          </p:cNvPr>
          <p:cNvSpPr txBox="1"/>
          <p:nvPr/>
        </p:nvSpPr>
        <p:spPr>
          <a:xfrm>
            <a:off x="7267444" y="3587438"/>
            <a:ext cx="42575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de-DE" sz="1000" b="1" dirty="0">
                <a:latin typeface="+mn-lt"/>
              </a:rPr>
              <a:t>C11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Aufteilung WZ – Formträger ab Mai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r>
              <a:t>Ziel — Neue Zuordnung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BFBF129B-369C-1754-7400-3A8A550E2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5" y="1268463"/>
            <a:ext cx="11009899" cy="480681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9E102FA-58D8-841D-4437-B4221A128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092" y="5450570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C48DAB5-D966-1557-BD20-294296B0B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199" y="5449231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037CC5E-12AC-5C5F-AFEA-F06199836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7" y="2837075"/>
            <a:ext cx="425075" cy="346108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7B9BE89-2452-EAAE-BDBE-0E3EB3F0E3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523" b="98139" l="552" r="9911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4429" y="2729900"/>
            <a:ext cx="486038" cy="33407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71C9CB3-E606-CE4A-976F-5B47D80A2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7" y="2359558"/>
            <a:ext cx="506237" cy="350795"/>
          </a:xfrm>
          <a:prstGeom prst="rect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A21029C-955F-7AA3-C136-43D55F00E3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3628" y="2247502"/>
            <a:ext cx="506238" cy="333273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9E959E64-4275-1B96-AA99-F294EBA4FDC5}"/>
              </a:ext>
            </a:extLst>
          </p:cNvPr>
          <p:cNvSpPr txBox="1"/>
          <p:nvPr/>
        </p:nvSpPr>
        <p:spPr>
          <a:xfrm>
            <a:off x="6210733" y="3563521"/>
            <a:ext cx="42575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de-DE" sz="1000" b="1" dirty="0">
                <a:latin typeface="+mn-lt"/>
              </a:rPr>
              <a:t>C11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B6432A6-398F-39F9-5583-526F6E3BD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74" y="2247502"/>
            <a:ext cx="424100" cy="345314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AB5D6B7C-7335-DD99-A9FF-0D6B4048F5C0}"/>
              </a:ext>
            </a:extLst>
          </p:cNvPr>
          <p:cNvSpPr/>
          <p:nvPr/>
        </p:nvSpPr>
        <p:spPr bwMode="auto">
          <a:xfrm>
            <a:off x="1149297" y="2665177"/>
            <a:ext cx="482207" cy="4190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1" name="Pfeil: nach oben und unten 20">
            <a:extLst>
              <a:ext uri="{FF2B5EF4-FFF2-40B4-BE49-F238E27FC236}">
                <a16:creationId xmlns:a16="http://schemas.microsoft.com/office/drawing/2014/main" id="{E951FC2A-36BF-8767-F69E-76C367DD7018}"/>
              </a:ext>
            </a:extLst>
          </p:cNvPr>
          <p:cNvSpPr/>
          <p:nvPr/>
        </p:nvSpPr>
        <p:spPr bwMode="auto">
          <a:xfrm>
            <a:off x="211572" y="3429000"/>
            <a:ext cx="111990" cy="226940"/>
          </a:xfrm>
          <a:prstGeom prst="upDown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E4644386-8829-B69B-1BC8-2187C5619501}"/>
              </a:ext>
            </a:extLst>
          </p:cNvPr>
          <p:cNvCxnSpPr/>
          <p:nvPr/>
        </p:nvCxnSpPr>
        <p:spPr bwMode="auto">
          <a:xfrm>
            <a:off x="3115324" y="3183183"/>
            <a:ext cx="6408102" cy="2190033"/>
          </a:xfrm>
          <a:prstGeom prst="straightConnector1">
            <a:avLst/>
          </a:prstGeom>
          <a:solidFill>
            <a:srgbClr val="B8C400"/>
          </a:solidFill>
          <a:ln w="57150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Aufteilung WZ – Formträger ab Mai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r>
              <a:t>Ergebnis — Optimierter Zustand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461BAE2C-5736-0561-869F-75514A514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5" y="1268463"/>
            <a:ext cx="11009899" cy="480681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0F5D1EA-B9A2-2579-BB99-B1D4011F8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092" y="5450570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F4CBAAC-5F70-6EF6-923F-111F4B35D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199" y="5449231"/>
            <a:ext cx="466295" cy="349478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B96DF1E-B7C1-6022-520B-8F140CB77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392" y="2738113"/>
            <a:ext cx="425075" cy="346108"/>
          </a:xfrm>
          <a:prstGeom prst="rect">
            <a:avLst/>
          </a:prstGeom>
          <a:ln w="25400">
            <a:solidFill>
              <a:srgbClr val="B8C400"/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2BF61C1-45FD-173F-1AC4-55D46EAD4B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523" b="98139" l="552" r="9911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4429" y="2729900"/>
            <a:ext cx="486038" cy="33407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DE38D8F-23A6-C22C-CA30-C238D38736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205" y="2196462"/>
            <a:ext cx="506237" cy="350795"/>
          </a:xfrm>
          <a:prstGeom prst="rect">
            <a:avLst/>
          </a:prstGeom>
          <a:ln w="25400">
            <a:solidFill>
              <a:srgbClr val="B8C400"/>
            </a:solidFill>
          </a:ln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21684C1-C61C-1E35-9EBD-902A0AA3A2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3712" y="2213984"/>
            <a:ext cx="506238" cy="333273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5AB811D8-38B0-1FD3-0267-7D7FCB0D8B0C}"/>
              </a:ext>
            </a:extLst>
          </p:cNvPr>
          <p:cNvSpPr txBox="1"/>
          <p:nvPr/>
        </p:nvSpPr>
        <p:spPr>
          <a:xfrm>
            <a:off x="6210733" y="3563521"/>
            <a:ext cx="42575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de-DE" sz="1000" b="1" dirty="0">
                <a:latin typeface="+mn-lt"/>
              </a:rPr>
              <a:t>C11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16B4FDC-EF0A-CB1F-32FA-ACEF56EB5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74" y="2714795"/>
            <a:ext cx="424100" cy="345314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7AF1AAB-1271-A752-3534-2D94D2DD1963}"/>
              </a:ext>
            </a:extLst>
          </p:cNvPr>
          <p:cNvSpPr/>
          <p:nvPr/>
        </p:nvSpPr>
        <p:spPr bwMode="auto">
          <a:xfrm>
            <a:off x="2274825" y="2153637"/>
            <a:ext cx="482207" cy="4190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C75CA61-20EF-6E5B-BE58-51886BE68EDE}"/>
              </a:ext>
            </a:extLst>
          </p:cNvPr>
          <p:cNvSpPr/>
          <p:nvPr/>
        </p:nvSpPr>
        <p:spPr bwMode="auto">
          <a:xfrm>
            <a:off x="6744072" y="1234030"/>
            <a:ext cx="4092931" cy="1346745"/>
          </a:xfrm>
          <a:prstGeom prst="roundRect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Halbteile 602A eQ6 H4 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H3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2000" dirty="0">
                <a:latin typeface="+mn-lt"/>
                <a:sym typeface="Wingdings" panose="05000000000000000000" pitchFamily="2" charset="2"/>
              </a:rPr>
              <a:t>Halbteile 602 e6 H2  H2</a:t>
            </a:r>
            <a:endParaRPr kumimoji="0" 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Pfeil: nach links und rechts 7">
            <a:extLst>
              <a:ext uri="{FF2B5EF4-FFF2-40B4-BE49-F238E27FC236}">
                <a16:creationId xmlns:a16="http://schemas.microsoft.com/office/drawing/2014/main" id="{98458AA3-C149-ACC3-9681-4B47D2C8486C}"/>
              </a:ext>
            </a:extLst>
          </p:cNvPr>
          <p:cNvSpPr/>
          <p:nvPr/>
        </p:nvSpPr>
        <p:spPr bwMode="auto">
          <a:xfrm rot="20640007">
            <a:off x="10382791" y="5117534"/>
            <a:ext cx="1236949" cy="484632"/>
          </a:xfrm>
          <a:prstGeom prst="leftRight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Pfeil: nach links und rechts 11">
            <a:extLst>
              <a:ext uri="{FF2B5EF4-FFF2-40B4-BE49-F238E27FC236}">
                <a16:creationId xmlns:a16="http://schemas.microsoft.com/office/drawing/2014/main" id="{38472D38-DC6F-0718-572A-F6C1BFAB7EFA}"/>
              </a:ext>
            </a:extLst>
          </p:cNvPr>
          <p:cNvSpPr/>
          <p:nvPr/>
        </p:nvSpPr>
        <p:spPr bwMode="auto">
          <a:xfrm rot="19343482">
            <a:off x="-61462" y="4276408"/>
            <a:ext cx="3158077" cy="484632"/>
          </a:xfrm>
          <a:prstGeom prst="leftRight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9" name="Multiplikationszeichen 18">
            <a:extLst>
              <a:ext uri="{FF2B5EF4-FFF2-40B4-BE49-F238E27FC236}">
                <a16:creationId xmlns:a16="http://schemas.microsoft.com/office/drawing/2014/main" id="{87DF5B55-ACBB-C707-A7E2-B1111DDB65A2}"/>
              </a:ext>
            </a:extLst>
          </p:cNvPr>
          <p:cNvSpPr/>
          <p:nvPr/>
        </p:nvSpPr>
        <p:spPr bwMode="auto">
          <a:xfrm>
            <a:off x="1644647" y="2084838"/>
            <a:ext cx="628449" cy="591563"/>
          </a:xfrm>
          <a:prstGeom prst="mathMultiply">
            <a:avLst/>
          </a:prstGeom>
          <a:solidFill>
            <a:srgbClr val="FF00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1" name="Multiplikationszeichen 20">
            <a:extLst>
              <a:ext uri="{FF2B5EF4-FFF2-40B4-BE49-F238E27FC236}">
                <a16:creationId xmlns:a16="http://schemas.microsoft.com/office/drawing/2014/main" id="{29671073-14E1-F170-E8A3-422003AE18F3}"/>
              </a:ext>
            </a:extLst>
          </p:cNvPr>
          <p:cNvSpPr/>
          <p:nvPr/>
        </p:nvSpPr>
        <p:spPr bwMode="auto">
          <a:xfrm>
            <a:off x="1107467" y="2115129"/>
            <a:ext cx="613797" cy="630071"/>
          </a:xfrm>
          <a:prstGeom prst="mathMultiply">
            <a:avLst/>
          </a:prstGeom>
          <a:solidFill>
            <a:srgbClr val="FF00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Multiplikationszeichen 21">
            <a:extLst>
              <a:ext uri="{FF2B5EF4-FFF2-40B4-BE49-F238E27FC236}">
                <a16:creationId xmlns:a16="http://schemas.microsoft.com/office/drawing/2014/main" id="{C86584D5-113C-64B6-A2FA-7AAB966FECEE}"/>
              </a:ext>
            </a:extLst>
          </p:cNvPr>
          <p:cNvSpPr/>
          <p:nvPr/>
        </p:nvSpPr>
        <p:spPr bwMode="auto">
          <a:xfrm>
            <a:off x="1039525" y="2607533"/>
            <a:ext cx="693226" cy="578811"/>
          </a:xfrm>
          <a:prstGeom prst="mathMultiply">
            <a:avLst/>
          </a:prstGeom>
          <a:solidFill>
            <a:srgbClr val="FF00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4AF5953-8AE0-01DD-D031-0550720F0D67}"/>
              </a:ext>
            </a:extLst>
          </p:cNvPr>
          <p:cNvSpPr/>
          <p:nvPr/>
        </p:nvSpPr>
        <p:spPr bwMode="auto">
          <a:xfrm>
            <a:off x="278664" y="1030984"/>
            <a:ext cx="2624610" cy="914400"/>
          </a:xfrm>
          <a:prstGeom prst="roundRect">
            <a:avLst/>
          </a:prstGeom>
          <a:solidFill>
            <a:srgbClr val="F1A67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Ersatzteile inklusive Q2 LL + RL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57B3EE3-B1A4-5DF5-CEB0-A49ECFE34103}"/>
              </a:ext>
            </a:extLst>
          </p:cNvPr>
          <p:cNvCxnSpPr>
            <a:endCxn id="14" idx="0"/>
          </p:cNvCxnSpPr>
          <p:nvPr/>
        </p:nvCxnSpPr>
        <p:spPr bwMode="auto">
          <a:xfrm>
            <a:off x="1517576" y="1907402"/>
            <a:ext cx="998353" cy="246235"/>
          </a:xfrm>
          <a:prstGeom prst="straightConnector1">
            <a:avLst/>
          </a:prstGeom>
          <a:solidFill>
            <a:srgbClr val="B8C400"/>
          </a:solidFill>
          <a:ln w="5715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Die Werkzeugumverteilung löst das akute Kapazitätsproblem auf der C-Linie.</a:t>
            </a:r>
          </a:p>
          <a:p>
            <a:pPr>
              <a:spcAft>
                <a:spcPts val="600"/>
              </a:spcAft>
              <a:defRPr sz="1400"/>
            </a:pPr>
            <a:endParaRPr/>
          </a:p>
          <a:p>
            <a:pPr>
              <a:spcAft>
                <a:spcPts val="600"/>
              </a:spcAft>
              <a:defRPr sz="1400"/>
            </a:pPr>
            <a:r>
              <a:t>Aber die strukturellen Herausforderungen bleiben:</a:t>
            </a:r>
          </a:p>
          <a:p>
            <a:pPr>
              <a:spcAft>
                <a:spcPts val="600"/>
              </a:spcAft>
              <a:defRPr sz="1400"/>
            </a:pPr>
            <a:r>
              <a:t>•  Produktion weiterhin über 2 Hallen verteilt</a:t>
            </a:r>
          </a:p>
          <a:p>
            <a:pPr>
              <a:spcAft>
                <a:spcPts val="600"/>
              </a:spcAft>
              <a:defRPr sz="1400"/>
            </a:pPr>
            <a:r>
              <a:t>•  Steigende Energiekosten für Formträgerheizung in 2 Hallen</a:t>
            </a:r>
          </a:p>
          <a:p>
            <a:pPr>
              <a:spcAft>
                <a:spcPts val="600"/>
              </a:spcAft>
              <a:defRPr sz="1400"/>
            </a:pPr>
            <a:r>
              <a:t>•  Ineffiziente Transportwege und Zwischenlagerung</a:t>
            </a:r>
          </a:p>
          <a:p>
            <a:pPr>
              <a:spcAft>
                <a:spcPts val="600"/>
              </a:spcAft>
              <a:defRPr sz="1400"/>
            </a:pPr>
            <a:r>
              <a:t>•  Halle 3 bindet wertvolle Fläche ohne strategische Perspektive</a:t>
            </a:r>
          </a:p>
          <a:p>
            <a:pPr>
              <a:spcAft>
                <a:spcPts val="600"/>
              </a:spcAft>
              <a:defRPr sz="1400"/>
            </a:pPr>
            <a:endParaRPr/>
          </a:p>
          <a:p>
            <a:pPr>
              <a:spcAft>
                <a:spcPts val="600"/>
              </a:spcAft>
              <a:defRPr sz="1400"/>
            </a:pPr>
            <a:r>
              <a:t>Für eine nachhaltige Zukunftssicherung braucht Gundernhausen</a:t>
            </a:r>
          </a:p>
          <a:p>
            <a:pPr>
              <a:spcAft>
                <a:spcPts val="600"/>
              </a:spcAft>
              <a:defRPr sz="1400"/>
            </a:pPr>
            <a:r>
              <a:t>eine grundlegende Neuaufstellung — NVH 2030.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r>
              <a:t>Überleitung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reicht die WZ-Optimierung allein nicht?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Drei Layoutvorschläge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Vergleich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646" y="37524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Arial"/>
              </a:defRPr>
            </a:pPr>
            <a:r>
              <a:rPr dirty="0" err="1"/>
              <a:t>Vorschlag</a:t>
            </a:r>
            <a:r>
              <a:rPr dirty="0"/>
              <a:t> 2</a:t>
            </a:r>
          </a:p>
        </p:txBody>
      </p:sp>
      <p:pic>
        <p:nvPicPr>
          <p:cNvPr id="5" name="Picture 4" descr="Vorschlag 2 24-02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231" y="1152502"/>
            <a:ext cx="4850480" cy="2736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47049" y="92752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Arial"/>
              </a:defRPr>
            </a:pPr>
            <a:r>
              <a:rPr dirty="0" err="1"/>
              <a:t>Vorschlag</a:t>
            </a:r>
            <a:r>
              <a:rPr dirty="0"/>
              <a:t> 3</a:t>
            </a:r>
          </a:p>
        </p:txBody>
      </p:sp>
      <p:pic>
        <p:nvPicPr>
          <p:cNvPr id="7" name="Picture 6" descr="Vorschlag 3 24-02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0" y="4026808"/>
            <a:ext cx="4850481" cy="27363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26679" y="1353312"/>
            <a:ext cx="4023360" cy="5029200"/>
          </a:xfrm>
          <a:prstGeom prst="rect">
            <a:avLst/>
          </a:prstGeom>
          <a:noFill/>
          <a:ln w="38100">
            <a:solidFill>
              <a:srgbClr val="B8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C400"/>
                </a:solidFill>
                <a:latin typeface="Arial"/>
              </a:defRPr>
            </a:pPr>
            <a:r>
              <a:t>Vorschlag 4  —  AUSGEWÄHLT</a:t>
            </a:r>
          </a:p>
        </p:txBody>
      </p:sp>
      <p:pic>
        <p:nvPicPr>
          <p:cNvPr id="10" name="Picture 9" descr="Vorschlag 4 24-02-20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783080"/>
            <a:ext cx="3657600" cy="20633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Vorschlag 4 — Konsolidierung in Halle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Entscheidung</a:t>
            </a:r>
          </a:p>
        </p:txBody>
      </p:sp>
      <p:pic>
        <p:nvPicPr>
          <p:cNvPr id="4" name="Picture 3" descr="Vorschlag 4 24-02-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400800" cy="36108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554480"/>
            <a:ext cx="4572000" cy="1234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0" y="1554480"/>
            <a:ext cx="4206240" cy="45719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6642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C400"/>
                </a:solidFill>
                <a:latin typeface="Arial"/>
              </a:defRPr>
            </a:pPr>
            <a:r>
              <a:t>Produktbereich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6596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Gemischte Produktionszellen</a:t>
            </a:r>
            <a:br/>
            <a:r>
              <a:t>Produktgruppe A</a:t>
            </a:r>
            <a:br/>
            <a:r>
              <a:t>HL spezifisch zugeordnet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971800"/>
            <a:ext cx="4572000" cy="1234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2971800"/>
            <a:ext cx="4206240" cy="64008"/>
          </a:xfrm>
          <a:prstGeom prst="rect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30815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9BBFF"/>
                </a:solidFill>
                <a:latin typeface="Arial"/>
              </a:defRPr>
            </a:pPr>
            <a:r>
              <a:t>Produktbereich 2 — Hauptproduktion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38328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Schaumlinien C + F (je 6 Mischköpfe)</a:t>
            </a:r>
            <a:br/>
            <a:r>
              <a:t>CO2 + Trennmittel-Bereiche</a:t>
            </a:r>
            <a:br/>
            <a:r>
              <a:t>Dosier- &amp; Mischanlagen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389120"/>
            <a:ext cx="4572000" cy="1234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4389120"/>
            <a:ext cx="4206240" cy="457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449884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A10"/>
                </a:solidFill>
                <a:latin typeface="Arial"/>
              </a:defRPr>
            </a:pPr>
            <a:r>
              <a:t>Produktbereich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80060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Gemischte Produktionszellen</a:t>
            </a:r>
            <a:br/>
            <a:r>
              <a:t>Produktgruppe C</a:t>
            </a:r>
            <a:br/>
            <a:r>
              <a:t>Anbindung Versand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897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Staplerverkehrswege trennen alle drei Bereiche sicher voneinander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Warum Vorschlag 4?  —  12 Argumente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Argumentation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743200" cy="320040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48132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LOGISTIK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Kürzere Transportwege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59152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Kein Zwischenlager Halbteile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798064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843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Eindeutige HL-Zuordnung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36976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282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Platz für Container + Werkzeuge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463040"/>
            <a:ext cx="2743200" cy="320040"/>
          </a:xfrm>
          <a:prstGeom prst="rect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9272" y="148132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EFFIZIENZ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920240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One-Way-Flow — weniger Personal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2359152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2404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F-Linie entlastet C-Linie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2798064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2843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C + F je 6 Mischköpfe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236976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37560" y="3282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CO2 bedient beide Anlagen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463040"/>
            <a:ext cx="2743200" cy="32004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99632" y="148132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ENERGIE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920240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Formträgerheizung nur 1 Halle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2359152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2404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Halle 3 komplett abschaltbar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1463040"/>
            <a:ext cx="274320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79992" y="148132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STRATEGIE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1920240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8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Halle 3 frei für Zukunft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2359152"/>
            <a:ext cx="2743200" cy="38404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98280" y="2404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•  CO2-RA Optionalität (Phase 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Kostenschätzung Phase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65176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3392" y="1554480"/>
            <a:ext cx="2124000" cy="45720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C400"/>
                </a:solidFill>
                <a:latin typeface="Arial"/>
              </a:defRPr>
            </a:pPr>
            <a:r>
              <a:t>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Maschinenabbau</a:t>
            </a:r>
            <a:br/>
            <a:r>
              <a:t>&amp; Halle 3 Räumung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81–132k 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54480"/>
            <a:ext cx="265176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64280" y="1554480"/>
            <a:ext cx="2124000" cy="45720"/>
          </a:xfrm>
          <a:prstGeom prst="rect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BBFF"/>
                </a:solidFill>
                <a:latin typeface="Arial"/>
              </a:defRPr>
            </a:pPr>
            <a:r>
              <a:t>A2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Anlagenumstellung</a:t>
            </a:r>
            <a:br/>
            <a:r>
              <a:t>Halle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58–100k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265176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98920" y="1554480"/>
            <a:ext cx="2124000" cy="457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691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A10"/>
                </a:solidFill>
                <a:latin typeface="Arial"/>
              </a:defRPr>
            </a:pPr>
            <a: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Allgemeine</a:t>
            </a:r>
            <a:br/>
            <a:r>
              <a:t>Infrastruktur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115–210k 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554480"/>
            <a:ext cx="265176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33560" y="1554480"/>
            <a:ext cx="212400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06840" y="1691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Arial"/>
              </a:defRPr>
            </a:pPr>
            <a:r>
              <a:t>A4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Wässrige</a:t>
            </a:r>
            <a:br/>
            <a:r>
              <a:t>Trennmittel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8–18k 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931920"/>
            <a:ext cx="7315200" cy="914400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032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rial"/>
              </a:defRPr>
            </a:pPr>
            <a:r>
              <a:t>GESAMT PHASE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297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262.000 – 460.000 €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120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66666"/>
                </a:solidFill>
                <a:latin typeface="Arial"/>
              </a:defRPr>
            </a:pPr>
            <a:r>
              <a:t>•  Sommerpause nutzbar (max. 2 Wochen Stillstand)</a:t>
            </a:r>
          </a:p>
          <a:p>
            <a:pPr>
              <a:spcAft>
                <a:spcPts val="400"/>
              </a:spcAft>
              <a:defRPr sz="1000">
                <a:solidFill>
                  <a:srgbClr val="666666"/>
                </a:solidFill>
                <a:latin typeface="Arial"/>
              </a:defRPr>
            </a:pPr>
            <a:r>
              <a:t>•  Keine Genehmigungen erforderlich</a:t>
            </a:r>
          </a:p>
          <a:p>
            <a:pPr>
              <a:spcAft>
                <a:spcPts val="400"/>
              </a:spcAft>
              <a:defRPr sz="1000">
                <a:solidFill>
                  <a:srgbClr val="666666"/>
                </a:solidFill>
                <a:latin typeface="Arial"/>
              </a:defRPr>
            </a:pPr>
            <a:r>
              <a:t>•  Personalkosten und Produktionsausfallkosten nicht enthalten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Roadmap Phase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Umsetzungsfahrplan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10515600" cy="5486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2103120"/>
            <a:ext cx="228600" cy="228600"/>
          </a:xfrm>
          <a:prstGeom prst="ellipse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C400"/>
                </a:solidFill>
                <a:latin typeface="Arial"/>
              </a:defRPr>
            </a:pPr>
            <a:r>
              <a:t>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Layout bestätigen</a:t>
            </a:r>
            <a:br/>
            <a:r>
              <a:t>Budgetfreigabe</a:t>
            </a:r>
          </a:p>
        </p:txBody>
      </p:sp>
      <p:sp>
        <p:nvSpPr>
          <p:cNvPr id="8" name="Oval 7"/>
          <p:cNvSpPr/>
          <p:nvPr/>
        </p:nvSpPr>
        <p:spPr>
          <a:xfrm>
            <a:off x="3291840" y="2103120"/>
            <a:ext cx="228600" cy="228600"/>
          </a:xfrm>
          <a:prstGeom prst="ellipse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9BBFF"/>
                </a:solidFill>
                <a:latin typeface="Arial"/>
              </a:defRPr>
            </a:pPr>
            <a:r>
              <a:t>Q2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Detailplanung</a:t>
            </a:r>
            <a:br/>
            <a:r>
              <a:t>Ausschreibungen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0" y="2103120"/>
            <a:ext cx="228600" cy="228600"/>
          </a:xfrm>
          <a:prstGeom prst="ellipse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924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6A10"/>
                </a:solidFill>
                <a:latin typeface="Arial"/>
              </a:defRPr>
            </a:pPr>
            <a: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Sommerpause</a:t>
            </a:r>
            <a:br/>
            <a:r>
              <a:t>Kritische Umbauten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2103120"/>
            <a:ext cx="228600" cy="2286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8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Arial"/>
              </a:defRPr>
            </a:pPr>
            <a:r>
              <a:t>Q4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Maschinenabbau</a:t>
            </a:r>
            <a:br/>
            <a:r>
              <a:t>Halle 3 räumen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0" y="2103120"/>
            <a:ext cx="228600" cy="228600"/>
          </a:xfrm>
          <a:prstGeom prst="ellipse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C400"/>
                </a:solidFill>
                <a:latin typeface="Arial"/>
              </a:defRPr>
            </a:pPr>
            <a:r>
              <a:t>Q1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Abschluss</a:t>
            </a:r>
            <a:br/>
            <a:r>
              <a:t>Phase A fertig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40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D2D2D"/>
                </a:solidFill>
                <a:latin typeface="Arial"/>
              </a:defRPr>
            </a:pPr>
            <a:r>
              <a:t>•  Max. 2 Wochen Produktionsstillstand (Sommerpause 2026)</a:t>
            </a:r>
          </a:p>
          <a:p>
            <a:pPr>
              <a:spcAft>
                <a:spcPts val="800"/>
              </a:spcAft>
              <a:defRPr sz="1200">
                <a:solidFill>
                  <a:srgbClr val="2D2D2D"/>
                </a:solidFill>
                <a:latin typeface="Arial"/>
              </a:defRPr>
            </a:pPr>
            <a:r>
              <a:t>•  Keine behördlichen Genehmigungen erforderlich</a:t>
            </a:r>
          </a:p>
          <a:p>
            <a:pPr>
              <a:spcAft>
                <a:spcPts val="800"/>
              </a:spcAft>
              <a:defRPr sz="1200">
                <a:solidFill>
                  <a:srgbClr val="2D2D2D"/>
                </a:solidFill>
                <a:latin typeface="Arial"/>
              </a:defRPr>
            </a:pPr>
            <a:r>
              <a:t>•  5 Maschinen abzubauen</a:t>
            </a:r>
          </a:p>
          <a:p>
            <a:pPr>
              <a:spcAft>
                <a:spcPts val="800"/>
              </a:spcAft>
              <a:defRPr sz="1200">
                <a:solidFill>
                  <a:srgbClr val="2D2D2D"/>
                </a:solidFill>
                <a:latin typeface="Arial"/>
              </a:defRPr>
            </a:pPr>
            <a:r>
              <a:t>•  Phase B (CO2-RA, Zukunftsoptionen) erst nach Abschluss Phase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rPr dirty="0"/>
              <a:t>Halle 3 — </a:t>
            </a:r>
            <a:r>
              <a:rPr dirty="0" err="1"/>
              <a:t>Zukunftsoptionen</a:t>
            </a:r>
            <a:r>
              <a:rPr dirty="0"/>
              <a:t> (Phase B)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Zukunft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6A10"/>
                </a:solidFill>
                <a:latin typeface="Arial"/>
              </a:defRPr>
            </a:pPr>
            <a:r>
              <a:t>Alle Optionen sind Explorationen aus der R&amp;D-Pipeline. Keine ist für Gundernhausen bestätigt oder budgetiert.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2743200" cy="4206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9580" y="1929383"/>
            <a:ext cx="2196000" cy="45720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75488" y="2057400"/>
            <a:ext cx="320040" cy="320040"/>
          </a:xfrm>
          <a:prstGeom prst="ellipse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206654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rial"/>
              </a:defRPr>
            </a:pPr>
            <a:r>
              <a:t>CO2-Trennmittel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68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C400"/>
                </a:solidFill>
                <a:latin typeface="Arial"/>
              </a:defRPr>
            </a:pPr>
            <a:r>
              <a:t>TRL 6-7   |   Invest: 230–365k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7889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Ellzee validiert</a:t>
            </a:r>
            <a:br/>
            <a:r>
              <a:t>CO2-Tank vorhanden</a:t>
            </a:r>
            <a:br/>
            <a:r>
              <a:t>~4,4 J. Amortisation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920240"/>
            <a:ext cx="2743200" cy="4206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92288" y="1920240"/>
            <a:ext cx="2196000" cy="45720"/>
          </a:xfrm>
          <a:prstGeom prst="rect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355848" y="2057400"/>
            <a:ext cx="320040" cy="320040"/>
          </a:xfrm>
          <a:prstGeom prst="ellipse">
            <a:avLst/>
          </a:prstGeom>
          <a:solidFill>
            <a:srgbClr val="69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206654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rial"/>
              </a:defRPr>
            </a:pPr>
            <a:r>
              <a:t>PU-Chem. Recycling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468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BBFF"/>
                </a:solidFill>
                <a:latin typeface="Arial"/>
              </a:defRPr>
            </a:pPr>
            <a:r>
              <a:t>TRL 3-4   |   Invest: 500k–1M CHF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7889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Selective Polymer-Retention</a:t>
            </a:r>
            <a:br/>
            <a:r>
              <a:t>100% Baumwolle + 97% PET</a:t>
            </a:r>
            <a:br/>
            <a:r>
              <a:t>EU Green Deal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920240"/>
            <a:ext cx="2743200" cy="4206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72648" y="1920240"/>
            <a:ext cx="2196000" cy="457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36208" y="2057400"/>
            <a:ext cx="320040" cy="320040"/>
          </a:xfrm>
          <a:prstGeom prst="ellipse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6208" y="206654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rial"/>
              </a:defRPr>
            </a:pPr>
            <a:r>
              <a:t>LHS-TPC Leichtbau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468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A10"/>
                </a:solidFill>
                <a:latin typeface="Arial"/>
              </a:defRPr>
            </a:pPr>
            <a:r>
              <a:t>TRL 4-5   |   Invest: Offen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7889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PP-GF Hohlstruktur-Panels</a:t>
            </a:r>
            <a:br/>
            <a:r>
              <a:t>100% recycelbar</a:t>
            </a:r>
            <a:br/>
            <a:r>
              <a:t>Ersatz IboComb-Set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1920240"/>
            <a:ext cx="2743200" cy="4206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53008" y="1920240"/>
            <a:ext cx="219600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16568" y="2057400"/>
            <a:ext cx="320040" cy="32004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16568" y="206654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rial"/>
              </a:defRPr>
            </a:pPr>
            <a:r>
              <a:t>FR-PU Batterieschutz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2468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Arial"/>
              </a:defRPr>
            </a:pPr>
            <a:r>
              <a:t>TRL 4-5   |   Invest: Offen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8" y="27889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In-Press FR-PU</a:t>
            </a:r>
            <a:br/>
            <a:r>
              <a:t>Ersatz Mica-Shields</a:t>
            </a:r>
            <a:br/>
            <a:r>
              <a:t>BEV-Markt wachsend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PHASE B — ZUKUNFT (SEPARAT)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endParaRPr/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Nicht Teil dieses Budgets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Keine Option für Gundernhausen bestätigt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4 Innovationspfade identifiziert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CO2-RA: hochster TRL (6-7), Ellzee-Erfahrung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PU-Recycling, LHS-TPC, FR-PU: neue Geschäftsfelder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Halle 3 bleibt verfügbar — Entscheidung spater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PHASE A — KERNPROJEKT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endParaRPr/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Investition rechnet sich allein durch operative Einsparungen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Kürzere Wege, weniger Personal, weniger Energiekosten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Keine Abhängigkeit von Phase B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Halle 3 wird strategisches Asset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Budget: 262–460k €</a:t>
            </a:r>
          </a:p>
          <a:p>
            <a:pPr>
              <a:spcAft>
                <a:spcPts val="500"/>
              </a:spcAft>
              <a:defRPr sz="1200">
                <a:latin typeface="Arial"/>
              </a:defRPr>
            </a:pPr>
            <a:r>
              <a:t>Umsetzung: Q1 2026 – Q1 2027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Strategische Bewertung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Bewertung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latin typeface="Arial"/>
              </a:defRPr>
            </a:pPr>
            <a:r>
              <a:t>Gesamtlayoutplan — Halle 1 · Halle 2 · Halle 3 (CAD-Auszug)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rPr dirty="0" err="1"/>
              <a:t>Aktuelles</a:t>
            </a:r>
            <a:r>
              <a:rPr dirty="0"/>
              <a:t> Layout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863840" cy="34239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C400"/>
                </a:solidFill>
                <a:latin typeface="Arial"/>
              </a:defRPr>
            </a:pPr>
            <a:r>
              <a:t>Legende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828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Arial"/>
              </a:defRPr>
            </a:pPr>
            <a:r>
              <a:t>Farbkodierung im CAD-Plan:</a:t>
            </a:r>
          </a:p>
        </p:txBody>
      </p:sp>
      <p:sp>
        <p:nvSpPr>
          <p:cNvPr id="7" name="Oval 6"/>
          <p:cNvSpPr/>
          <p:nvPr/>
        </p:nvSpPr>
        <p:spPr>
          <a:xfrm>
            <a:off x="8321040" y="2176272"/>
            <a:ext cx="182880" cy="18288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58784" y="2148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Rot  — Maschinen / Anlagen werden abgebaut</a:t>
            </a:r>
          </a:p>
        </p:txBody>
      </p:sp>
      <p:sp>
        <p:nvSpPr>
          <p:cNvPr id="9" name="Oval 8"/>
          <p:cNvSpPr/>
          <p:nvPr/>
        </p:nvSpPr>
        <p:spPr>
          <a:xfrm>
            <a:off x="8321040" y="2496312"/>
            <a:ext cx="182880" cy="182880"/>
          </a:xfrm>
          <a:prstGeom prst="ellipse">
            <a:avLst/>
          </a:prstGeom>
          <a:solidFill>
            <a:srgbClr val="00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t>Grün — Maschinen / Anlagen verbleiben oder werden verlagert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834640"/>
            <a:ext cx="365760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926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Arial"/>
              </a:defRPr>
            </a:pPr>
            <a:r>
              <a:t>Hallen-Übersicht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291840"/>
            <a:ext cx="3657600" cy="6400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3291840"/>
            <a:ext cx="3657600" cy="3657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34670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Arial"/>
              </a:defRPr>
            </a:pPr>
            <a:r>
              <a:t>Halle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11880"/>
            <a:ext cx="3474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Arial"/>
              </a:defRPr>
            </a:pPr>
            <a:r>
              <a:rPr lang="de-DE" dirty="0" err="1"/>
              <a:t>Marzola</a:t>
            </a:r>
            <a:r>
              <a:rPr lang="de-DE" dirty="0"/>
              <a:t> und Schneidbox verlagern.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321040" y="4160520"/>
            <a:ext cx="3657600" cy="6400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4160520"/>
            <a:ext cx="3657600" cy="36576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42153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C400"/>
                </a:solidFill>
                <a:latin typeface="Arial"/>
              </a:defRPr>
            </a:pPr>
            <a:r>
              <a:t>Halle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480560"/>
            <a:ext cx="3474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Arial"/>
              </a:defRPr>
            </a:pPr>
            <a:r>
              <a:rPr lang="de-DE" dirty="0"/>
              <a:t>Wir komplett frei in diesem Layout</a:t>
            </a:r>
            <a:r>
              <a:rPr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5029200"/>
            <a:ext cx="3657600" cy="6400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21040" y="5029200"/>
            <a:ext cx="3657600" cy="36576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50840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A10"/>
                </a:solidFill>
                <a:latin typeface="Arial"/>
              </a:defRPr>
            </a:pPr>
            <a:r>
              <a:t>Halle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349240"/>
            <a:ext cx="3474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Arial"/>
              </a:defRPr>
            </a:pPr>
            <a:r>
              <a:rPr lang="de-DE" dirty="0"/>
              <a:t>Produktion für AUDI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321040" y="6263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/>
              </a:defRPr>
            </a:pPr>
            <a:r>
              <a:t>Quelle: CAD-Layoutplan Werk Gundernhausen  |  Stand: Feb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latin typeface="Arial"/>
              </a:defRPr>
            </a:pPr>
            <a:r>
              <a:rPr lang="de-DE" dirty="0"/>
              <a:t>Werks</a:t>
            </a:r>
            <a:r>
              <a:rPr dirty="0" err="1"/>
              <a:t>überblick</a:t>
            </a:r>
            <a:r>
              <a:rPr dirty="0"/>
              <a:t> — Highlights &amp; </a:t>
            </a:r>
            <a:r>
              <a:rPr dirty="0" err="1"/>
              <a:t>Handlungsbedarf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rPr lang="de-DE" dirty="0"/>
              <a:t>Neues</a:t>
            </a:r>
            <a:r>
              <a:rPr dirty="0"/>
              <a:t> Layout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863840" cy="3230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C400"/>
                </a:solidFill>
                <a:latin typeface="Arial"/>
              </a:defRPr>
            </a:pPr>
            <a:r>
              <a:t>Was zeigt diese Ansicht?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874519"/>
            <a:ext cx="36576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rPr dirty="0"/>
              <a:t>Die </a:t>
            </a:r>
            <a:r>
              <a:rPr dirty="0" err="1"/>
              <a:t>grünen</a:t>
            </a:r>
            <a:r>
              <a:rPr dirty="0"/>
              <a:t> </a:t>
            </a:r>
            <a:r>
              <a:rPr dirty="0" err="1"/>
              <a:t>Markierungen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 </a:t>
            </a:r>
            <a:r>
              <a:rPr dirty="0" err="1"/>
              <a:t>Bereiche</a:t>
            </a:r>
            <a:r>
              <a:rPr dirty="0"/>
              <a:t> und Maschinen, die </a:t>
            </a:r>
            <a:r>
              <a:rPr dirty="0" err="1"/>
              <a:t>im</a:t>
            </a:r>
            <a:r>
              <a:rPr dirty="0"/>
              <a:t> Rahmen von NVH 2030 </a:t>
            </a:r>
            <a:r>
              <a:rPr lang="de-DE" dirty="0"/>
              <a:t>in die </a:t>
            </a:r>
            <a:r>
              <a:rPr dirty="0"/>
              <a:t>Halle 3 </a:t>
            </a:r>
            <a:r>
              <a:rPr lang="de-DE" dirty="0"/>
              <a:t>und </a:t>
            </a:r>
            <a:r>
              <a:rPr dirty="0"/>
              <a:t>in Halle </a:t>
            </a:r>
            <a:r>
              <a:rPr lang="de-DE" dirty="0"/>
              <a:t>1</a:t>
            </a:r>
            <a:r>
              <a:rPr dirty="0"/>
              <a:t> </a:t>
            </a:r>
            <a:r>
              <a:rPr dirty="0" err="1"/>
              <a:t>verlagert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000">
                <a:solidFill>
                  <a:srgbClr val="2D2D2D"/>
                </a:solidFill>
                <a:latin typeface="Arial"/>
              </a:defRPr>
            </a:pPr>
            <a:endParaRPr dirty="0"/>
          </a:p>
          <a:p>
            <a:pPr>
              <a:spcAft>
                <a:spcPts val="500"/>
              </a:spcAft>
              <a:defRPr sz="1000">
                <a:solidFill>
                  <a:srgbClr val="666666"/>
                </a:solidFill>
                <a:latin typeface="Arial"/>
              </a:defRPr>
            </a:pPr>
            <a:r>
              <a:rPr dirty="0" err="1"/>
              <a:t>Jede</a:t>
            </a:r>
            <a:r>
              <a:rPr dirty="0"/>
              <a:t> Ellipse </a:t>
            </a:r>
            <a:r>
              <a:rPr dirty="0" err="1"/>
              <a:t>entspricht</a:t>
            </a:r>
            <a:r>
              <a:rPr dirty="0"/>
              <a:t>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Maschinengruppe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Produktionsbereich</a:t>
            </a:r>
            <a:r>
              <a:rPr dirty="0"/>
              <a:t>, der </a:t>
            </a:r>
            <a:r>
              <a:rPr dirty="0" err="1"/>
              <a:t>nach</a:t>
            </a:r>
            <a:r>
              <a:rPr dirty="0"/>
              <a:t> der </a:t>
            </a:r>
            <a:r>
              <a:rPr dirty="0" err="1"/>
              <a:t>Konsolidierung</a:t>
            </a:r>
            <a:r>
              <a:rPr dirty="0"/>
              <a:t> </a:t>
            </a:r>
            <a:r>
              <a:rPr dirty="0" err="1"/>
              <a:t>wegfällt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zusammengeführt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3611880"/>
            <a:ext cx="365760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Arial"/>
              </a:defRPr>
            </a:pPr>
            <a:r>
              <a:t>Kennzahlen Phase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4023360"/>
            <a:ext cx="3657600" cy="347472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21040" y="4023360"/>
            <a:ext cx="3657600" cy="36576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40782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rPr dirty="0"/>
              <a:t>  </a:t>
            </a:r>
            <a:r>
              <a:rPr lang="de-DE" dirty="0"/>
              <a:t>9</a:t>
            </a:r>
            <a:r>
              <a:rPr dirty="0"/>
              <a:t> Maschinen </a:t>
            </a:r>
            <a:r>
              <a:rPr dirty="0" err="1"/>
              <a:t>abzubauen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8321040" y="4425696"/>
            <a:ext cx="3657600" cy="347472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4425696"/>
            <a:ext cx="3657600" cy="36576"/>
          </a:xfrm>
          <a:prstGeom prst="rect">
            <a:avLst/>
          </a:prstGeom>
          <a:solidFill>
            <a:srgbClr val="B8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44805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/>
              </a:defRPr>
            </a:pPr>
            <a:r>
              <a:rPr dirty="0"/>
              <a:t>  Halle </a:t>
            </a:r>
            <a:r>
              <a:rPr lang="de-DE" dirty="0"/>
              <a:t>2</a:t>
            </a:r>
            <a:r>
              <a:rPr dirty="0"/>
              <a:t> </a:t>
            </a:r>
            <a:r>
              <a:rPr dirty="0" err="1"/>
              <a:t>vollständig</a:t>
            </a:r>
            <a:r>
              <a:rPr dirty="0"/>
              <a:t> </a:t>
            </a:r>
            <a:r>
              <a:rPr dirty="0" err="1"/>
              <a:t>räumen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321040" y="6263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/>
              </a:defRPr>
            </a:pPr>
            <a:r>
              <a:t>Quelle: CAD-Layoutplan Werk Gundernhausen  |  Stand: Feb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1.  </a:t>
            </a:r>
            <a:r>
              <a:rPr dirty="0" err="1"/>
              <a:t>Vorschlag</a:t>
            </a:r>
            <a:r>
              <a:rPr dirty="0"/>
              <a:t> 4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Basislayout</a:t>
            </a:r>
            <a:r>
              <a:rPr dirty="0"/>
              <a:t> formal </a:t>
            </a:r>
            <a:r>
              <a:rPr dirty="0" err="1"/>
              <a:t>bestätigen</a:t>
            </a:r>
            <a:r>
              <a:rPr dirty="0"/>
              <a:t>                          </a:t>
            </a:r>
            <a:r>
              <a:rPr dirty="0" err="1"/>
              <a:t>Werkleitung</a:t>
            </a:r>
            <a:r>
              <a:rPr dirty="0"/>
              <a:t>          Marz 2026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2.  </a:t>
            </a:r>
            <a:r>
              <a:rPr dirty="0" err="1"/>
              <a:t>Budgetfreigabe</a:t>
            </a:r>
            <a:r>
              <a:rPr dirty="0"/>
              <a:t> Phase A (262–460k €)                                     </a:t>
            </a:r>
            <a:r>
              <a:rPr lang="de-DE"/>
              <a:t> </a:t>
            </a:r>
            <a:r>
              <a:t>Controlling            </a:t>
            </a:r>
            <a:r>
              <a:rPr dirty="0"/>
              <a:t>Marz 2026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3.  </a:t>
            </a:r>
            <a:r>
              <a:rPr dirty="0" err="1"/>
              <a:t>Infrastruktur-Bestandsaufnahme</a:t>
            </a:r>
            <a:r>
              <a:rPr dirty="0"/>
              <a:t> Halle 2                                   Technik                 April 2026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4.  </a:t>
            </a:r>
            <a:r>
              <a:rPr dirty="0" err="1"/>
              <a:t>Ausschreibung</a:t>
            </a:r>
            <a:r>
              <a:rPr dirty="0"/>
              <a:t> Maschinenabbau (5 Maschinen)                       Einkauf                 Mai 2026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5.  </a:t>
            </a:r>
            <a:r>
              <a:rPr dirty="0" err="1"/>
              <a:t>Sommerpause</a:t>
            </a:r>
            <a:r>
              <a:rPr dirty="0"/>
              <a:t> </a:t>
            </a:r>
            <a:r>
              <a:rPr dirty="0" err="1"/>
              <a:t>nutzen</a:t>
            </a:r>
            <a:r>
              <a:rPr dirty="0"/>
              <a:t> für </a:t>
            </a:r>
            <a:r>
              <a:rPr dirty="0" err="1"/>
              <a:t>kritische</a:t>
            </a:r>
            <a:r>
              <a:rPr dirty="0"/>
              <a:t> </a:t>
            </a:r>
            <a:r>
              <a:rPr dirty="0" err="1"/>
              <a:t>Umbauten</a:t>
            </a:r>
            <a:r>
              <a:rPr dirty="0"/>
              <a:t>                           Produktion            Jul/Aug 2026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Phase A </a:t>
            </a:r>
            <a:r>
              <a:rPr dirty="0" err="1"/>
              <a:t>rechnet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unabhangig</a:t>
            </a:r>
            <a:r>
              <a:rPr dirty="0"/>
              <a:t> von Phase B </a:t>
            </a:r>
            <a:r>
              <a:rPr dirty="0" err="1"/>
              <a:t>allein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operative </a:t>
            </a:r>
            <a:r>
              <a:rPr dirty="0" err="1"/>
              <a:t>Einsparungen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dirty="0"/>
              <a:t>Halle 3 </a:t>
            </a:r>
            <a:r>
              <a:rPr dirty="0" err="1"/>
              <a:t>bleibt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strategisches</a:t>
            </a:r>
            <a:r>
              <a:rPr dirty="0"/>
              <a:t> Asset </a:t>
            </a:r>
            <a:r>
              <a:rPr dirty="0" err="1"/>
              <a:t>verfügbar</a:t>
            </a:r>
            <a:r>
              <a:rPr dirty="0"/>
              <a:t> — </a:t>
            </a:r>
            <a:r>
              <a:rPr dirty="0" err="1"/>
              <a:t>welche</a:t>
            </a:r>
            <a:r>
              <a:rPr dirty="0"/>
              <a:t> Option </a:t>
            </a:r>
            <a:r>
              <a:rPr dirty="0" err="1"/>
              <a:t>dort</a:t>
            </a:r>
            <a:r>
              <a:rPr dirty="0"/>
              <a:t> </a:t>
            </a:r>
            <a:r>
              <a:rPr dirty="0" err="1"/>
              <a:t>realisiert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, </a:t>
            </a:r>
            <a:r>
              <a:rPr dirty="0" err="1"/>
              <a:t>kann</a:t>
            </a:r>
            <a:r>
              <a:rPr dirty="0"/>
              <a:t> </a:t>
            </a:r>
            <a:r>
              <a:rPr dirty="0" err="1"/>
              <a:t>spater</a:t>
            </a:r>
            <a:r>
              <a:rPr dirty="0"/>
              <a:t> </a:t>
            </a:r>
            <a:r>
              <a:rPr dirty="0" err="1"/>
              <a:t>entschieden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Empfehlung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Nächste Schritte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AUT2001"/>
</p:tagLst>
</file>

<file path=ppt/theme/theme1.xml><?xml version="1.0" encoding="utf-8"?>
<a:theme xmlns:a="http://schemas.openxmlformats.org/drawingml/2006/main" name="Autoneum_Templates_and_Guidelines_for_PowerPoint">
  <a:themeElements>
    <a:clrScheme name="Autoneum_korrekt">
      <a:dk1>
        <a:srgbClr val="000000"/>
      </a:dk1>
      <a:lt1>
        <a:srgbClr val="FFFFFF"/>
      </a:lt1>
      <a:dk2>
        <a:srgbClr val="DAE279"/>
      </a:dk2>
      <a:lt2>
        <a:srgbClr val="DCDCDC"/>
      </a:lt2>
      <a:accent1>
        <a:srgbClr val="B8C400"/>
      </a:accent1>
      <a:accent2>
        <a:srgbClr val="666666"/>
      </a:accent2>
      <a:accent3>
        <a:srgbClr val="69BBFF"/>
      </a:accent3>
      <a:accent4>
        <a:srgbClr val="E86A10"/>
      </a:accent4>
      <a:accent5>
        <a:srgbClr val="DCDCDC"/>
      </a:accent5>
      <a:accent6>
        <a:srgbClr val="F1A670"/>
      </a:accent6>
      <a:hlink>
        <a:srgbClr val="B8C400"/>
      </a:hlink>
      <a:folHlink>
        <a:srgbClr val="69BBFF"/>
      </a:folHlink>
    </a:clrScheme>
    <a:fontScheme name="Autoneum_Templates_and_Guidelines_for_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+mn-lt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x-non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  <a:txDef>
      <a:spPr>
        <a:noFill/>
      </a:spPr>
      <a:bodyPr wrap="square" lIns="0" tIns="0" rIns="0" bIns="0" rtlCol="0" anchor="t" anchorCtr="0">
        <a:spAutoFit/>
      </a:bodyPr>
      <a:lstStyle>
        <a:defPPr algn="l">
          <a:defRPr sz="1600" smtClean="0">
            <a:latin typeface="+mn-lt"/>
          </a:defRPr>
        </a:defPPr>
      </a:lstStyle>
    </a:txDef>
  </a:objectDefaults>
  <a:extraClrSchemeLst>
    <a:extraClrScheme>
      <a:clrScheme name="Autoneum_Templates_and_Guidelines_for_PowerPoint 1">
        <a:dk1>
          <a:srgbClr val="000000"/>
        </a:dk1>
        <a:lt1>
          <a:srgbClr val="FFFFFF"/>
        </a:lt1>
        <a:dk2>
          <a:srgbClr val="DAE279"/>
        </a:dk2>
        <a:lt2>
          <a:srgbClr val="DCDCDC"/>
        </a:lt2>
        <a:accent1>
          <a:srgbClr val="B8C400"/>
        </a:accent1>
        <a:accent2>
          <a:srgbClr val="666666"/>
        </a:accent2>
        <a:accent3>
          <a:srgbClr val="69BBFF"/>
        </a:accent3>
        <a:accent4>
          <a:srgbClr val="E86A10"/>
        </a:accent4>
        <a:accent5>
          <a:srgbClr val="DCDCDC"/>
        </a:accent5>
        <a:accent6>
          <a:srgbClr val="F1A670"/>
        </a:accent6>
        <a:hlink>
          <a:srgbClr val="B8C400"/>
        </a:hlink>
        <a:folHlink>
          <a:srgbClr val="69B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Autoneum Green 100">
      <a:srgbClr val="B8C400"/>
    </a:custClr>
    <a:custClr name="Autoneum Dark Grey 100">
      <a:srgbClr val="666666"/>
    </a:custClr>
    <a:custClr name="Autoneum Light Blue 100">
      <a:srgbClr val="69BBFF"/>
    </a:custClr>
    <a:custClr name="Autoneum Orange 100">
      <a:srgbClr val="E86A10"/>
    </a:custClr>
    <a:custClr name="Autoneum Light Grey 100">
      <a:srgbClr val="DCDCDC"/>
    </a:custClr>
    <a:custClr>
      <a:srgbClr val="FFFFFF"/>
    </a:custClr>
    <a:custClr>
      <a:srgbClr val="FFFFFF"/>
    </a:custClr>
    <a:custClr>
      <a:srgbClr val="FFFFFF"/>
    </a:custClr>
    <a:custClr>
      <a:srgbClr val="000000"/>
    </a:custClr>
    <a:custClr name="Autoneum Green 75">
      <a:srgbClr val="CAD340"/>
    </a:custClr>
    <a:custClr name="Autoneum Green 60">
      <a:srgbClr val="DAE279"/>
    </a:custClr>
    <a:custClr name="Autoneum Dark Grey 60">
      <a:srgbClr val="AFAFAF"/>
    </a:custClr>
    <a:custClr name="Autoneum Light Blue 60">
      <a:srgbClr val="A5D6FF"/>
    </a:custClr>
    <a:custClr name="Autoneum Orange 60">
      <a:srgbClr val="F1A670"/>
    </a:custClr>
    <a:custClr name="Autoneum Light Grey 60">
      <a:srgbClr val="EAEA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50">
      <a:srgbClr val="DBE17F"/>
    </a:custClr>
    <a:custClr name="Autoneum Green 30">
      <a:srgbClr val="EAEDB2"/>
    </a:custClr>
    <a:custClr name="Autoneum Dark Grey 30">
      <a:srgbClr val="D7D7D7"/>
    </a:custClr>
    <a:custClr name="Autoneum Light Blue 30">
      <a:srgbClr val="D2EAFF"/>
    </a:custClr>
    <a:custClr name="Autoneum Orange 30">
      <a:srgbClr val="F8D2B7"/>
    </a:custClr>
    <a:custClr name="Autoneum Light Grey 30">
      <a:srgbClr val="F4F4F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25">
      <a:srgbClr val="EDF0BF"/>
    </a:custClr>
  </a:custClrLst>
  <a:extLst>
    <a:ext uri="{05A4C25C-085E-4340-85A3-A5531E510DB2}">
      <thm15:themeFamily xmlns:thm15="http://schemas.microsoft.com/office/thememl/2012/main" name="200624_ATN_Template_16to9.potx" id="{2C839285-9065-426A-8ED5-A1B19F696594}" vid="{E7CAA329-5C52-49B8-B3CF-C6969078794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VariableList UniqueId="cf0b9540-ebd7-4a8b-aead-a6b110f1193b" Name="Computed" ContentType="XML" MajorVersion="0" MinorVersion="1" isLocalCopy="False" IsBaseObject="False" DataSourceId="899b2f45-c966-43a1-af21-ac0df3879a7d" DataSourceMajorVersion="0" DataSourceMinorVersion="1"/>
</file>

<file path=customXml/item2.xml><?xml version="1.0" encoding="utf-8"?>
<VariableList UniqueId="3349e962-bf31-4fc4-bee6-278b03dbc74d" Name="System" ContentType="XML" MajorVersion="0" MinorVersion="1" isLocalCopy="False" IsBaseObject="False" DataSourceId="9e886eb5-a0c3-4810-9651-261c17348a33" DataSourceMajorVersion="0" DataSourceMinorVersion="1"/>
</file>

<file path=customXml/item3.xml><?xml version="1.0" encoding="utf-8"?>
<VariableListDefinition name="AD_HOC" displayName="AD_HOC" id="5e9c32f3-4946-4008-b3cb-5f407b52a711" isdomainofvalue="False" dataSourceId="6d22c828-3e04-4130-af64-717ac0ec7716"/>
</file>

<file path=customXml/item4.xml><?xml version="1.0" encoding="utf-8"?>
<VariableListDefinition name="System" displayName="System" id="3349e962-bf31-4fc4-bee6-278b03dbc74d" isdomainofvalue="False" dataSourceId="9e886eb5-a0c3-4810-9651-261c17348a33"/>
</file>

<file path=customXml/item5.xml><?xml version="1.0" encoding="utf-8"?>
<VariableList UniqueId="5e9c32f3-4946-4008-b3cb-5f407b52a711" Name="AD_HOC" ContentType="XML" MajorVersion="0" MinorVersion="1" isLocalCopy="False" IsBaseObject="False" DataSourceId="6d22c828-3e04-4130-af64-717ac0ec7716" DataSourceMajorVersion="0" DataSourceMinorVersion="1"/>
</file>

<file path=customXml/item6.xml><?xml version="1.0" encoding="utf-8"?>
<VariableListDefinition name="Computed" displayName="Computed" id="cf0b9540-ebd7-4a8b-aead-a6b110f1193b" isdomainofvalue="False" dataSourceId="899b2f45-c966-43a1-af21-ac0df3879a7d"/>
</file>

<file path=customXml/item7.xml><?xml version="1.0" encoding="utf-8"?>
<AllExternalAdhocVariableMappings/>
</file>

<file path=customXml/itemProps1.xml><?xml version="1.0" encoding="utf-8"?>
<ds:datastoreItem xmlns:ds="http://schemas.openxmlformats.org/officeDocument/2006/customXml" ds:itemID="{73950589-3628-43B8-AA6C-143E04396BED}">
  <ds:schemaRefs/>
</ds:datastoreItem>
</file>

<file path=customXml/itemProps2.xml><?xml version="1.0" encoding="utf-8"?>
<ds:datastoreItem xmlns:ds="http://schemas.openxmlformats.org/officeDocument/2006/customXml" ds:itemID="{0E8DB27E-7770-4BD3-97DF-F18AF57BBE8C}">
  <ds:schemaRefs/>
</ds:datastoreItem>
</file>

<file path=customXml/itemProps3.xml><?xml version="1.0" encoding="utf-8"?>
<ds:datastoreItem xmlns:ds="http://schemas.openxmlformats.org/officeDocument/2006/customXml" ds:itemID="{8DB4218E-1DC4-436B-99B3-CE41907D4F54}">
  <ds:schemaRefs/>
</ds:datastoreItem>
</file>

<file path=customXml/itemProps4.xml><?xml version="1.0" encoding="utf-8"?>
<ds:datastoreItem xmlns:ds="http://schemas.openxmlformats.org/officeDocument/2006/customXml" ds:itemID="{BD509AB7-3CB5-45BC-B387-3BFBF577B927}">
  <ds:schemaRefs/>
</ds:datastoreItem>
</file>

<file path=customXml/itemProps5.xml><?xml version="1.0" encoding="utf-8"?>
<ds:datastoreItem xmlns:ds="http://schemas.openxmlformats.org/officeDocument/2006/customXml" ds:itemID="{552E5F77-B6FF-4EBB-8157-4B5C56FB8C1A}">
  <ds:schemaRefs/>
</ds:datastoreItem>
</file>

<file path=customXml/itemProps6.xml><?xml version="1.0" encoding="utf-8"?>
<ds:datastoreItem xmlns:ds="http://schemas.openxmlformats.org/officeDocument/2006/customXml" ds:itemID="{63D05FDD-90E0-4EE5-AE4A-AE4DC2D27D6F}">
  <ds:schemaRefs/>
</ds:datastoreItem>
</file>

<file path=customXml/itemProps7.xml><?xml version="1.0" encoding="utf-8"?>
<ds:datastoreItem xmlns:ds="http://schemas.openxmlformats.org/officeDocument/2006/customXml" ds:itemID="{F45BF84F-3CFB-49B7-BD30-73B4D311A050}">
  <ds:schemaRefs/>
</ds:datastoreItem>
</file>

<file path=docMetadata/LabelInfo.xml><?xml version="1.0" encoding="utf-8"?>
<clbl:labelList xmlns:clbl="http://schemas.microsoft.com/office/2020/mipLabelMetadata">
  <clbl:label id="{e4297c46-ad9d-49b3-98bb-8b0d8ea7eaa9}" enabled="1" method="Standard" siteId="{6c7eb460-cdb7-498a-a2b7-5f23de5f1c2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959</Words>
  <Application>Microsoft Office PowerPoint</Application>
  <PresentationFormat>Widescreen</PresentationFormat>
  <Paragraphs>192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Autoneum_Templates_and_Guidelines_for_PowerPoint</vt:lpstr>
      <vt:lpstr>NVH 2030 — Gesamtkonzept</vt:lpstr>
      <vt:lpstr>Warum muss sich das Layout ändern?</vt:lpstr>
      <vt:lpstr>Zwei-Stufen-Ansatz</vt:lpstr>
      <vt:lpstr>Aufteilung WZ – Formträger Januar 2026</vt:lpstr>
      <vt:lpstr>Aufteilung WZ – Formträger ab Mai 2026</vt:lpstr>
      <vt:lpstr>Aufteilung WZ – Formträger ab Mai 2026</vt:lpstr>
      <vt:lpstr>Warum reicht die WZ-Optimierung allein nicht?</vt:lpstr>
      <vt:lpstr>Drei Layoutvorschläge</vt:lpstr>
      <vt:lpstr>Vorschlag 4 — Konsolidierung in Halle 2</vt:lpstr>
      <vt:lpstr>Warum Vorschlag 4?  —  12 Argumente</vt:lpstr>
      <vt:lpstr>Kostenschätzung Phase A</vt:lpstr>
      <vt:lpstr>Roadmap Phase A</vt:lpstr>
      <vt:lpstr>Halle 3 — Zukunftsoptionen (Phase B)</vt:lpstr>
      <vt:lpstr>Strategische Bewertung</vt:lpstr>
      <vt:lpstr>Gesamtlayoutplan — Halle 1 · Halle 2 · Halle 3 (CAD-Auszug)</vt:lpstr>
      <vt:lpstr>Werksüberblick — Highlights &amp; Handlungsbedarf</vt:lpstr>
      <vt:lpstr>Nächste Schritte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Jonas Glawion</cp:lastModifiedBy>
  <cp:revision>1</cp:revision>
  <cp:lastPrinted>2018-11-05T08:05:03Z</cp:lastPrinted>
  <dcterms:created xsi:type="dcterms:W3CDTF">2018-10-25T09:08:40Z</dcterms:created>
  <dcterms:modified xsi:type="dcterms:W3CDTF">2026-03-23T07:45:15Z</dcterms:modified>
</cp:coreProperties>
</file>